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Frame the next 45 minutes: a candid walk-through of how a working web application was built from a single idea using AI coding tools. Set expectations: this is not a sales pitch for AI; it is a story about what worked, what broke, and what to take away. Mention that we will end with a live demo and Q&amp;A.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about 2 minutes on this slide. The distinction matters because executives sometimes assume that whatever an AI generates is production-ready. Set the right frame: vibe coding is powerful for exploration and fast prototyping, but enterprise software requires engineering rigor on top of it. The tools are the same; the process around them is different. This talk focuses on vibe coding because that is what this audience can pick up and try themselves.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use case. The veterinary diagnostics framing is specific to our domain, but the pattern is universal: someone has a document, they want AI to do something useful with it, and they want a simple UI to do it through. Keep this slide brief — it is scene-setting, not the main act.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need to dwell here — most of this audience will encounter Claude Code for the first time today. The key point is that it is conversational. You are not writing code; you are describing what you want. Claude writes the code. You review, test, and guide. The analogy that works well: it is like having a very fast, very knowledgeable junior developer who does exactly what you tell them to — which means the quality of your instructions matters enormously.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important slides in the deck. Pause here. The person who wrote this prompt is not a software engineer — they are a domain expert who knew what they wanted. But notice how specific it is: it names the technology stack (Node.js, Angular), it describes each UI element, it explains the business use case for the default prompt, and it even specifies a constraint (no database needed). This level of specificity is what separates a useful AI output from a generic one. Encourage the audience: when they try this themselves, spend more time on the initial description than they think they need 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often surprises people. They expect AI to just start generating code immediately. The Q&amp;A phase is actually a feature, not a delay. Each question forced a real decision that would have had to be made eventually — either up front in conversation, or later as a painful bug or rework. Point out the second question specifically: the decision to proxy AI API calls through the backend (rather than calling them from the browser) turned out to be critical when a corporate network security tool blocked a direct call later. That decision, made in a two-sentence Q&amp;A exchange, saved significant debugging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need to explain every line of this diagram. The executive-level point is: these four decisions were made in a conversation, before any code was written, and they shaped everything that followed. The one about avoiding dedicated file upload endpoints became especially important — more on that shortly. Architecture decisions made in conversation with AI are still real architecture decisions.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28 files / single session stat tends to land with this audience. Contextualize it: a small engineering team might take 1-2 weeks to produce this application through a normal development process — requirements gathering, design, development, code review, testing. This was a working prototype in an afternoon. The important caveat: this is a prototype. It is a proof-of-concept. For production use, engineering review, security hardening, and testing would be required. But as a proof that the idea works and is worth investing in? It delivered that in hours.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often the most relatable for executives. Things broke. They got fixed. The interesting part is how they got fixed — through conversation, by providing error messages and screenshots to the AI tool, and by trusting the tool to diagnose and correct its own output. The Zscaler example is particularly worth lingering on: the AI did not know about our corporate security environment in advance, but once told what the error was and where it came from, it adapted the design immediately. That's a meaningful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subtle but important point for executives thinking about AI-assisted development at scale. Documentation has historically been a discipline problem — developers write code faster than they write docs. AI tools change this: generating a thorough README takes seconds, and it can be done as part of the coding session rather than scheduled for later (and then never done). The session log is also worth mentioning: even without programmatic access to token counts, maintaining a narrative log of what happened and why is valuable institutional knowledge.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visual do the work here. If you are doing a live demo immediately after, keep this slide brief. If the demo is later or at risk due to connectivity, make sure this screenshot is high quality and shows a real AI response in the chat window. The combination of the professional UI and the formatted AI output is what makes it land — it does not look like a prototype.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'so what' slide for the how-to portion of the talk. If someone in the audience leaves and tries vibe coding tomorrow, these five behaviors are what separate a productive session from a frustrating one. Spend at least two minutes here. Invite the audience to write these down.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Calibrate this to the specific audience. If your executives are primarily focused on their own personal use ('I want to try this'), lean into the first section. If they're thinking about team productivity and org implications, the second and third sections are more relevant. This is also a good place to acknowledge that the tools are moving fast — what's true today may be more capable in six months.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demo flow: (1) Open the application at localhost:4200. (2) Show the configuration panel — select OpenAI, GPT-4o, enter API key. (3) Drag and drop a veterinary diagnostics PDF onto the upload widget. (4) Show the upload confirmation (green checkmark). (5) Show the pre-filled default prompt in the chat input. (6) Send the message and wait for the response. (7) Point out the markdown formatting in the AI response (headings, bullet lists). (8) Type a follow-up question to demonstrate multi-turn conversation. (9) Switch to Gemini to show API flexibility (if time permits). Have a backup screenshot ready in case of connectivity issues. Pre-upload a PDF before the session starts so the upload step is fast. Consider having a second browser tab ready with a completed conversation in case the live generation is slow.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an action-oriented note. Executives often leave training inspired but without a clear next step. This slide gives them one. You might invite two or three people to commit to trying a vibe coding session in the next two weeks and reporting back. The specific example you walked through today is available as a reference — the README explains how it works and why each decision was made.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8-10 minutes for questions. Common questions to be ready for: (1) 'Is the code good enough to put in production?' Not without engineering review, security hardening, and testing. But it is good enough to prove the concept and have a real conversation with engineering about building it properly. (2) 'What does this cost?' API costs are pay-per-use and relatively modest for prototyping. Claude Code itself is subscription-based. The economics are very favorable compared to engineering time. (3) 'What are the risks?' API keys must be protected. AI-generated code should be reviewed before production use. Data sent to AI APIs is subject to the provider's privacy policies — be thoughtful about sensitive data. (4) 'Can anyone do this?' The barrier is lower than most people expect, but it is not zero. Comfort with technology helps. Willingness to read error messages and iterate is essential.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6949440" y="0"/>
            <a:ext cx="5242255" cy="6858000"/>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903720" y="548640"/>
            <a:ext cx="54864" cy="5760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280160"/>
            <a:ext cx="5943600" cy="365760"/>
          </a:xfrm>
          <a:prstGeom prst="rect">
            <a:avLst/>
          </a:prstGeom>
          <a:noFill/>
        </p:spPr>
        <p:txBody>
          <a:bodyPr wrap="square" lIns="45720" rIns="45720" tIns="18288" bIns="18288" anchor="t">
            <a:spAutoFit/>
          </a:bodyPr>
          <a:lstStyle/>
          <a:p>
            <a:pPr algn="l">
              <a:lnSpc>
                <a:spcPct val="115000"/>
              </a:lnSpc>
              <a:spcAft>
                <a:spcPts val="400"/>
              </a:spcAft>
            </a:pPr>
            <a:r>
              <a:rPr sz="1200" b="1" i="0">
                <a:solidFill>
                  <a:srgbClr val="D4A017"/>
                </a:solidFill>
                <a:latin typeface="Calibri"/>
              </a:rPr>
              <a:t>EXECUTIVE LEADERSHIP TRAINING  ·  AI</a:t>
            </a:r>
          </a:p>
        </p:txBody>
      </p:sp>
      <p:sp>
        <p:nvSpPr>
          <p:cNvPr id="6" name="TextBox 5"/>
          <p:cNvSpPr txBox="1"/>
          <p:nvPr/>
        </p:nvSpPr>
        <p:spPr>
          <a:xfrm>
            <a:off x="822960" y="1783080"/>
            <a:ext cx="6035040" cy="2194560"/>
          </a:xfrm>
          <a:prstGeom prst="rect">
            <a:avLst/>
          </a:prstGeom>
          <a:noFill/>
        </p:spPr>
        <p:txBody>
          <a:bodyPr wrap="square" lIns="45720" rIns="45720" tIns="18288" bIns="18288" anchor="t">
            <a:spAutoFit/>
          </a:bodyPr>
          <a:lstStyle/>
          <a:p>
            <a:pPr algn="l">
              <a:lnSpc>
                <a:spcPct val="100000"/>
              </a:lnSpc>
              <a:spcAft>
                <a:spcPts val="0"/>
              </a:spcAft>
            </a:pPr>
            <a:r>
              <a:rPr sz="5800" b="1" i="0">
                <a:solidFill>
                  <a:srgbClr val="FFFFFF"/>
                </a:solidFill>
                <a:latin typeface="Calibri"/>
              </a:rPr>
              <a:t>From Idea to
Working App</a:t>
            </a:r>
          </a:p>
        </p:txBody>
      </p:sp>
      <p:sp>
        <p:nvSpPr>
          <p:cNvPr id="7" name="TextBox 6"/>
          <p:cNvSpPr txBox="1"/>
          <p:nvPr/>
        </p:nvSpPr>
        <p:spPr>
          <a:xfrm>
            <a:off x="822960" y="4160520"/>
            <a:ext cx="5943600" cy="640080"/>
          </a:xfrm>
          <a:prstGeom prst="rect">
            <a:avLst/>
          </a:prstGeom>
          <a:noFill/>
        </p:spPr>
        <p:txBody>
          <a:bodyPr wrap="square" lIns="45720" rIns="45720" tIns="18288" bIns="18288" anchor="t">
            <a:spAutoFit/>
          </a:bodyPr>
          <a:lstStyle/>
          <a:p>
            <a:pPr algn="l">
              <a:lnSpc>
                <a:spcPct val="110000"/>
              </a:lnSpc>
              <a:spcAft>
                <a:spcPts val="0"/>
              </a:spcAft>
            </a:pPr>
            <a:r>
              <a:rPr sz="2200" b="0" i="1">
                <a:solidFill>
                  <a:srgbClr val="F5E6B8"/>
                </a:solidFill>
                <a:latin typeface="Calibri"/>
              </a:rPr>
              <a:t>A Walk-Through of AI-Assisted Development</a:t>
            </a:r>
          </a:p>
        </p:txBody>
      </p:sp>
      <p:sp>
        <p:nvSpPr>
          <p:cNvPr id="8" name="Rectangle 7"/>
          <p:cNvSpPr/>
          <p:nvPr/>
        </p:nvSpPr>
        <p:spPr>
          <a:xfrm>
            <a:off x="822960" y="5120640"/>
            <a:ext cx="45720" cy="82296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0120" y="5120640"/>
            <a:ext cx="5486400" cy="365760"/>
          </a:xfrm>
          <a:prstGeom prst="rect">
            <a:avLst/>
          </a:prstGeom>
          <a:noFill/>
        </p:spPr>
        <p:txBody>
          <a:bodyPr wrap="square" lIns="45720" rIns="45720" tIns="18288" bIns="18288" anchor="t">
            <a:spAutoFit/>
          </a:bodyPr>
          <a:lstStyle/>
          <a:p>
            <a:pPr algn="l">
              <a:lnSpc>
                <a:spcPct val="115000"/>
              </a:lnSpc>
              <a:spcAft>
                <a:spcPts val="400"/>
              </a:spcAft>
            </a:pPr>
            <a:r>
              <a:rPr sz="1600" b="1" i="0">
                <a:solidFill>
                  <a:srgbClr val="FFFFFF"/>
                </a:solidFill>
                <a:latin typeface="Calibri"/>
              </a:rPr>
              <a:t>[Speaker Name]</a:t>
            </a:r>
          </a:p>
        </p:txBody>
      </p:sp>
      <p:sp>
        <p:nvSpPr>
          <p:cNvPr id="10" name="TextBox 9"/>
          <p:cNvSpPr txBox="1"/>
          <p:nvPr/>
        </p:nvSpPr>
        <p:spPr>
          <a:xfrm>
            <a:off x="960120" y="5440680"/>
            <a:ext cx="5486400" cy="365760"/>
          </a:xfrm>
          <a:prstGeom prst="rect">
            <a:avLst/>
          </a:prstGeom>
          <a:noFill/>
        </p:spPr>
        <p:txBody>
          <a:bodyPr wrap="square" lIns="45720" rIns="45720" tIns="18288" bIns="18288" anchor="t">
            <a:spAutoFit/>
          </a:bodyPr>
          <a:lstStyle/>
          <a:p>
            <a:pPr algn="l">
              <a:lnSpc>
                <a:spcPct val="115000"/>
              </a:lnSpc>
              <a:spcAft>
                <a:spcPts val="400"/>
              </a:spcAft>
            </a:pPr>
            <a:r>
              <a:rPr sz="1200" b="0" i="0">
                <a:solidFill>
                  <a:srgbClr val="F5E6B8"/>
                </a:solidFill>
                <a:latin typeface="Calibri"/>
              </a:rPr>
              <a:t>[Title  ·  Organization]</a:t>
            </a:r>
          </a:p>
        </p:txBody>
      </p:sp>
      <p:sp>
        <p:nvSpPr>
          <p:cNvPr id="11" name="TextBox 10"/>
          <p:cNvSpPr txBox="1"/>
          <p:nvPr/>
        </p:nvSpPr>
        <p:spPr>
          <a:xfrm>
            <a:off x="960120" y="5760720"/>
            <a:ext cx="5486400" cy="274320"/>
          </a:xfrm>
          <a:prstGeom prst="rect">
            <a:avLst/>
          </a:prstGeom>
          <a:noFill/>
        </p:spPr>
        <p:txBody>
          <a:bodyPr wrap="square" lIns="45720" rIns="45720" tIns="18288" bIns="18288" anchor="t">
            <a:spAutoFit/>
          </a:bodyPr>
          <a:lstStyle/>
          <a:p>
            <a:pPr algn="l">
              <a:lnSpc>
                <a:spcPct val="115000"/>
              </a:lnSpc>
              <a:spcAft>
                <a:spcPts val="400"/>
              </a:spcAft>
            </a:pPr>
            <a:r>
              <a:rPr sz="1100" b="0" i="0">
                <a:solidFill>
                  <a:srgbClr val="E3EAF6"/>
                </a:solidFill>
                <a:latin typeface="Calibri"/>
              </a:rPr>
              <a:t>April 2026  ·  45-minute talk</a:t>
            </a:r>
          </a:p>
        </p:txBody>
      </p:sp>
      <p:sp>
        <p:nvSpPr>
          <p:cNvPr id="12" name="TextBox 11"/>
          <p:cNvSpPr txBox="1"/>
          <p:nvPr/>
        </p:nvSpPr>
        <p:spPr>
          <a:xfrm>
            <a:off x="7315200" y="1280160"/>
            <a:ext cx="4572000" cy="36576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D4A017"/>
                </a:solidFill>
                <a:latin typeface="Calibri"/>
              </a:rPr>
              <a:t>AN IDEA</a:t>
            </a:r>
          </a:p>
        </p:txBody>
      </p:sp>
      <p:sp>
        <p:nvSpPr>
          <p:cNvPr id="13" name="Rounded Rectangle 12"/>
          <p:cNvSpPr/>
          <p:nvPr/>
        </p:nvSpPr>
        <p:spPr>
          <a:xfrm>
            <a:off x="7315200" y="1691640"/>
            <a:ext cx="4572000"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79" y="1828800"/>
            <a:ext cx="4206240" cy="1645920"/>
          </a:xfrm>
          <a:prstGeom prst="rect">
            <a:avLst/>
          </a:prstGeom>
          <a:noFill/>
        </p:spPr>
        <p:txBody>
          <a:bodyPr wrap="square" lIns="45720" rIns="45720" tIns="18288" bIns="18288" anchor="t">
            <a:spAutoFit/>
          </a:bodyPr>
          <a:lstStyle/>
          <a:p>
            <a:pPr algn="l">
              <a:lnSpc>
                <a:spcPct val="130000"/>
              </a:lnSpc>
              <a:spcAft>
                <a:spcPts val="400"/>
              </a:spcAft>
            </a:pPr>
            <a:r>
              <a:rPr sz="1400" b="0" i="1">
                <a:solidFill>
                  <a:srgbClr val="1A2B5E"/>
                </a:solidFill>
                <a:latin typeface="Calibri"/>
              </a:rPr>
              <a:t>"I want a web app that lets users
upload a PDF and have an AI
generate a marketing summary."</a:t>
            </a:r>
          </a:p>
        </p:txBody>
      </p:sp>
      <p:sp>
        <p:nvSpPr>
          <p:cNvPr id="15" name="Down Arrow 14"/>
          <p:cNvSpPr/>
          <p:nvPr/>
        </p:nvSpPr>
        <p:spPr>
          <a:xfrm>
            <a:off x="9372600" y="3703320"/>
            <a:ext cx="457200" cy="502920"/>
          </a:xfrm>
          <a:prstGeom prst="down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343400"/>
            <a:ext cx="4572000" cy="36576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D4A017"/>
                </a:solidFill>
                <a:latin typeface="Calibri"/>
              </a:rPr>
              <a:t>A WORKING APP</a:t>
            </a:r>
          </a:p>
        </p:txBody>
      </p:sp>
      <p:sp>
        <p:nvSpPr>
          <p:cNvPr id="17" name="Rounded Rectangle 16"/>
          <p:cNvSpPr/>
          <p:nvPr/>
        </p:nvSpPr>
        <p:spPr>
          <a:xfrm>
            <a:off x="7315200" y="4754880"/>
            <a:ext cx="4572000"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79" y="4937760"/>
            <a:ext cx="1463040" cy="29260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498079" y="5285232"/>
            <a:ext cx="1463040" cy="29260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498079" y="5632704"/>
            <a:ext cx="1463040" cy="292608"/>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098280" y="4937760"/>
            <a:ext cx="2606040" cy="1207008"/>
          </a:xfrm>
          <a:prstGeom prst="rect">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89720" y="5029200"/>
            <a:ext cx="2423160" cy="1051560"/>
          </a:xfrm>
          <a:prstGeom prst="rect">
            <a:avLst/>
          </a:prstGeom>
          <a:noFill/>
        </p:spPr>
        <p:txBody>
          <a:bodyPr wrap="square" lIns="45720" rIns="45720" tIns="18288" bIns="18288" anchor="t">
            <a:spAutoFit/>
          </a:bodyPr>
          <a:lstStyle/>
          <a:p>
            <a:pPr algn="l">
              <a:lnSpc>
                <a:spcPct val="125000"/>
              </a:lnSpc>
              <a:spcAft>
                <a:spcPts val="400"/>
              </a:spcAft>
            </a:pPr>
            <a:r>
              <a:rPr sz="900" b="0" i="0">
                <a:solidFill>
                  <a:srgbClr val="4B5563"/>
                </a:solidFill>
                <a:latin typeface="Consolas"/>
              </a:rPr>
              <a:t># Marketing Summary
• Test purpose
• Clinical applications
• Key advantages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SETTING THE STAGE</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Two Ways to Work With AI on Software</a:t>
            </a:r>
          </a:p>
        </p:txBody>
      </p:sp>
      <p:sp>
        <p:nvSpPr>
          <p:cNvPr id="5" name="Rounded Rectangle 4"/>
          <p:cNvSpPr/>
          <p:nvPr/>
        </p:nvSpPr>
        <p:spPr>
          <a:xfrm>
            <a:off x="548640" y="1691640"/>
            <a:ext cx="5440680" cy="416052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91440" cy="41605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920240"/>
            <a:ext cx="4983480" cy="36576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D4A017"/>
                </a:solidFill>
                <a:latin typeface="Calibri"/>
              </a:rPr>
              <a:t>VIBE CODING</a:t>
            </a:r>
          </a:p>
        </p:txBody>
      </p:sp>
      <p:sp>
        <p:nvSpPr>
          <p:cNvPr id="8" name="TextBox 7"/>
          <p:cNvSpPr txBox="1"/>
          <p:nvPr/>
        </p:nvSpPr>
        <p:spPr>
          <a:xfrm>
            <a:off x="868680" y="2240280"/>
            <a:ext cx="4983480" cy="457200"/>
          </a:xfrm>
          <a:prstGeom prst="rect">
            <a:avLst/>
          </a:prstGeom>
          <a:noFill/>
        </p:spPr>
        <p:txBody>
          <a:bodyPr wrap="square" lIns="45720" rIns="45720" tIns="18288" bIns="18288" anchor="t">
            <a:spAutoFit/>
          </a:bodyPr>
          <a:lstStyle/>
          <a:p>
            <a:pPr algn="l">
              <a:lnSpc>
                <a:spcPct val="115000"/>
              </a:lnSpc>
              <a:spcAft>
                <a:spcPts val="400"/>
              </a:spcAft>
            </a:pPr>
            <a:r>
              <a:rPr sz="2000" b="1" i="0">
                <a:solidFill>
                  <a:srgbClr val="1A2B5E"/>
                </a:solidFill>
                <a:latin typeface="Calibri"/>
              </a:rPr>
              <a:t>Conversational &amp; Exploratory</a:t>
            </a:r>
          </a:p>
        </p:txBody>
      </p:sp>
      <p:sp>
        <p:nvSpPr>
          <p:cNvPr id="9" name="TextBox 8"/>
          <p:cNvSpPr txBox="1"/>
          <p:nvPr/>
        </p:nvSpPr>
        <p:spPr>
          <a:xfrm>
            <a:off x="868680" y="2926080"/>
            <a:ext cx="4937760" cy="2286000"/>
          </a:xfrm>
          <a:prstGeom prst="rect">
            <a:avLst/>
          </a:prstGeom>
          <a:noFill/>
        </p:spPr>
        <p:txBody>
          <a:bodyPr wrap="square" lIns="45720" rIns="45720" tIns="18288" bIns="18288">
            <a:spAutoFit/>
          </a:bodyPr>
          <a:lstStyle/>
          <a:p>
            <a:pPr algn="l">
              <a:lnSpc>
                <a:spcPct val="120000"/>
              </a:lnSpc>
              <a:spcAft>
                <a:spcPts val="400"/>
              </a:spcAft>
            </a:pPr>
            <a:r>
              <a:rPr sz="1300" b="1">
                <a:solidFill>
                  <a:srgbClr val="D4A017"/>
                </a:solidFill>
                <a:latin typeface="Calibri"/>
              </a:rPr>
              <a:t>■  </a:t>
            </a:r>
            <a:r>
              <a:rPr sz="1300">
                <a:solidFill>
                  <a:srgbClr val="1F2937"/>
                </a:solidFill>
                <a:latin typeface="Calibri"/>
              </a:rPr>
              <a:t>Conversational, exploratory</a:t>
            </a:r>
          </a:p>
          <a:p>
            <a:pPr algn="l">
              <a:lnSpc>
                <a:spcPct val="120000"/>
              </a:lnSpc>
              <a:spcAft>
                <a:spcPts val="400"/>
              </a:spcAft>
            </a:pPr>
            <a:r>
              <a:rPr sz="1300" b="1">
                <a:solidFill>
                  <a:srgbClr val="D4A017"/>
                </a:solidFill>
                <a:latin typeface="Calibri"/>
              </a:rPr>
              <a:t>■  </a:t>
            </a:r>
            <a:r>
              <a:rPr sz="1300">
                <a:solidFill>
                  <a:srgbClr val="1F2937"/>
                </a:solidFill>
                <a:latin typeface="Calibri"/>
              </a:rPr>
              <a:t>Rapid prototyping and proof-of-concept</a:t>
            </a:r>
          </a:p>
          <a:p>
            <a:pPr algn="l">
              <a:lnSpc>
                <a:spcPct val="120000"/>
              </a:lnSpc>
              <a:spcAft>
                <a:spcPts val="400"/>
              </a:spcAft>
            </a:pPr>
            <a:r>
              <a:rPr sz="1300" b="1">
                <a:solidFill>
                  <a:srgbClr val="D4A017"/>
                </a:solidFill>
                <a:latin typeface="Calibri"/>
              </a:rPr>
              <a:t>■  </a:t>
            </a:r>
            <a:r>
              <a:rPr sz="1300">
                <a:solidFill>
                  <a:srgbClr val="1F2937"/>
                </a:solidFill>
                <a:latin typeface="Calibri"/>
              </a:rPr>
              <a:t>Domain expert + AI as coding partner</a:t>
            </a:r>
          </a:p>
          <a:p>
            <a:pPr algn="l">
              <a:lnSpc>
                <a:spcPct val="120000"/>
              </a:lnSpc>
              <a:spcAft>
                <a:spcPts val="400"/>
              </a:spcAft>
            </a:pPr>
            <a:r>
              <a:rPr sz="1300" b="1">
                <a:solidFill>
                  <a:srgbClr val="D4A017"/>
                </a:solidFill>
                <a:latin typeface="Calibri"/>
              </a:rPr>
              <a:t>■  </a:t>
            </a:r>
            <a:r>
              <a:rPr sz="1300">
                <a:solidFill>
                  <a:srgbClr val="1F2937"/>
                </a:solidFill>
                <a:latin typeface="Calibri"/>
              </a:rPr>
              <a:t>Goal: working software fast, learn as you go</a:t>
            </a:r>
          </a:p>
        </p:txBody>
      </p:sp>
      <p:sp>
        <p:nvSpPr>
          <p:cNvPr id="10" name="Rectangle 9"/>
          <p:cNvSpPr/>
          <p:nvPr/>
        </p:nvSpPr>
        <p:spPr>
          <a:xfrm>
            <a:off x="868680" y="5029200"/>
            <a:ext cx="4800600"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5148072"/>
            <a:ext cx="498348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6B7280"/>
                </a:solidFill>
                <a:latin typeface="Calibri"/>
              </a:rPr>
              <a:t>BEST FOR</a:t>
            </a:r>
          </a:p>
        </p:txBody>
      </p:sp>
      <p:sp>
        <p:nvSpPr>
          <p:cNvPr id="12" name="TextBox 11"/>
          <p:cNvSpPr txBox="1"/>
          <p:nvPr/>
        </p:nvSpPr>
        <p:spPr>
          <a:xfrm>
            <a:off x="868680" y="5394960"/>
            <a:ext cx="4983480" cy="457200"/>
          </a:xfrm>
          <a:prstGeom prst="rect">
            <a:avLst/>
          </a:prstGeom>
          <a:noFill/>
        </p:spPr>
        <p:txBody>
          <a:bodyPr wrap="square" lIns="45720" rIns="45720" tIns="18288" bIns="18288" anchor="t">
            <a:spAutoFit/>
          </a:bodyPr>
          <a:lstStyle/>
          <a:p>
            <a:pPr algn="l">
              <a:lnSpc>
                <a:spcPct val="115000"/>
              </a:lnSpc>
              <a:spcAft>
                <a:spcPts val="400"/>
              </a:spcAft>
            </a:pPr>
            <a:r>
              <a:rPr sz="1200" b="0" i="1">
                <a:solidFill>
                  <a:srgbClr val="4B5563"/>
                </a:solidFill>
                <a:latin typeface="Calibri"/>
              </a:rPr>
              <a:t>Internal tools, demos, personal projects, experiments</a:t>
            </a:r>
          </a:p>
        </p:txBody>
      </p:sp>
      <p:sp>
        <p:nvSpPr>
          <p:cNvPr id="13" name="Rounded Rectangle 12"/>
          <p:cNvSpPr/>
          <p:nvPr/>
        </p:nvSpPr>
        <p:spPr>
          <a:xfrm>
            <a:off x="6199632" y="1691640"/>
            <a:ext cx="5440680" cy="4160520"/>
          </a:xfrm>
          <a:prstGeom prst="roundRect">
            <a:avLst>
              <a:gd name="adj" fmla="val 6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691640"/>
            <a:ext cx="91440" cy="4160520"/>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19672" y="1920240"/>
            <a:ext cx="4983480" cy="36576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1A2B5E"/>
                </a:solidFill>
                <a:latin typeface="Calibri"/>
              </a:rPr>
              <a:t>ENTERPRISE AI-ASSISTED DEVELOPMENT</a:t>
            </a:r>
          </a:p>
        </p:txBody>
      </p:sp>
      <p:sp>
        <p:nvSpPr>
          <p:cNvPr id="16" name="TextBox 15"/>
          <p:cNvSpPr txBox="1"/>
          <p:nvPr/>
        </p:nvSpPr>
        <p:spPr>
          <a:xfrm>
            <a:off x="6519672" y="2240280"/>
            <a:ext cx="4983480" cy="457200"/>
          </a:xfrm>
          <a:prstGeom prst="rect">
            <a:avLst/>
          </a:prstGeom>
          <a:noFill/>
        </p:spPr>
        <p:txBody>
          <a:bodyPr wrap="square" lIns="45720" rIns="45720" tIns="18288" bIns="18288" anchor="t">
            <a:spAutoFit/>
          </a:bodyPr>
          <a:lstStyle/>
          <a:p>
            <a:pPr algn="l">
              <a:lnSpc>
                <a:spcPct val="115000"/>
              </a:lnSpc>
              <a:spcAft>
                <a:spcPts val="400"/>
              </a:spcAft>
            </a:pPr>
            <a:r>
              <a:rPr sz="2000" b="1" i="0">
                <a:solidFill>
                  <a:srgbClr val="1A2B5E"/>
                </a:solidFill>
                <a:latin typeface="Calibri"/>
              </a:rPr>
              <a:t>Structured &amp; Governed</a:t>
            </a:r>
          </a:p>
        </p:txBody>
      </p:sp>
      <p:sp>
        <p:nvSpPr>
          <p:cNvPr id="17" name="TextBox 16"/>
          <p:cNvSpPr txBox="1"/>
          <p:nvPr/>
        </p:nvSpPr>
        <p:spPr>
          <a:xfrm>
            <a:off x="6519672" y="2926080"/>
            <a:ext cx="4937760" cy="2286000"/>
          </a:xfrm>
          <a:prstGeom prst="rect">
            <a:avLst/>
          </a:prstGeom>
          <a:noFill/>
        </p:spPr>
        <p:txBody>
          <a:bodyPr wrap="square" lIns="45720" rIns="45720" tIns="18288" bIns="18288">
            <a:spAutoFit/>
          </a:bodyPr>
          <a:lstStyle/>
          <a:p>
            <a:pPr algn="l">
              <a:lnSpc>
                <a:spcPct val="120000"/>
              </a:lnSpc>
              <a:spcAft>
                <a:spcPts val="400"/>
              </a:spcAft>
            </a:pPr>
            <a:r>
              <a:rPr sz="1300" b="1">
                <a:solidFill>
                  <a:srgbClr val="1A2B5E"/>
                </a:solidFill>
                <a:latin typeface="Calibri"/>
              </a:rPr>
              <a:t>■  </a:t>
            </a:r>
            <a:r>
              <a:rPr sz="1300">
                <a:solidFill>
                  <a:srgbClr val="1F2937"/>
                </a:solidFill>
                <a:latin typeface="Calibri"/>
              </a:rPr>
              <a:t>Structured, governed, reviewed</a:t>
            </a:r>
          </a:p>
          <a:p>
            <a:pPr algn="l">
              <a:lnSpc>
                <a:spcPct val="120000"/>
              </a:lnSpc>
              <a:spcAft>
                <a:spcPts val="400"/>
              </a:spcAft>
            </a:pPr>
            <a:r>
              <a:rPr sz="1300" b="1">
                <a:solidFill>
                  <a:srgbClr val="1A2B5E"/>
                </a:solidFill>
                <a:latin typeface="Calibri"/>
              </a:rPr>
              <a:t>■  </a:t>
            </a:r>
            <a:r>
              <a:rPr sz="1300">
                <a:solidFill>
                  <a:srgbClr val="1F2937"/>
                </a:solidFill>
                <a:latin typeface="Calibri"/>
              </a:rPr>
              <a:t>Follows architecture, security, and testing standards</a:t>
            </a:r>
          </a:p>
          <a:p>
            <a:pPr algn="l">
              <a:lnSpc>
                <a:spcPct val="120000"/>
              </a:lnSpc>
              <a:spcAft>
                <a:spcPts val="400"/>
              </a:spcAft>
            </a:pPr>
            <a:r>
              <a:rPr sz="1300" b="1">
                <a:solidFill>
                  <a:srgbClr val="1A2B5E"/>
                </a:solidFill>
                <a:latin typeface="Calibri"/>
              </a:rPr>
              <a:t>■  </a:t>
            </a:r>
            <a:r>
              <a:rPr sz="1300">
                <a:solidFill>
                  <a:srgbClr val="1F2937"/>
                </a:solidFill>
                <a:latin typeface="Calibri"/>
              </a:rPr>
              <a:t>AI as accelerator within an engineering team</a:t>
            </a:r>
          </a:p>
          <a:p>
            <a:pPr algn="l">
              <a:lnSpc>
                <a:spcPct val="120000"/>
              </a:lnSpc>
              <a:spcAft>
                <a:spcPts val="400"/>
              </a:spcAft>
            </a:pPr>
            <a:r>
              <a:rPr sz="1300" b="1">
                <a:solidFill>
                  <a:srgbClr val="1A2B5E"/>
                </a:solidFill>
                <a:latin typeface="Calibri"/>
              </a:rPr>
              <a:t>■  </a:t>
            </a:r>
            <a:r>
              <a:rPr sz="1300">
                <a:solidFill>
                  <a:srgbClr val="1F2937"/>
                </a:solidFill>
                <a:latin typeface="Calibri"/>
              </a:rPr>
              <a:t>Goal: production-grade, maintainable, compliant software</a:t>
            </a:r>
          </a:p>
        </p:txBody>
      </p:sp>
      <p:sp>
        <p:nvSpPr>
          <p:cNvPr id="18" name="Rectangle 17"/>
          <p:cNvSpPr/>
          <p:nvPr/>
        </p:nvSpPr>
        <p:spPr>
          <a:xfrm>
            <a:off x="6519672" y="5029200"/>
            <a:ext cx="4800600"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19672" y="5148072"/>
            <a:ext cx="498348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6B7280"/>
                </a:solidFill>
                <a:latin typeface="Calibri"/>
              </a:rPr>
              <a:t>BEST FOR</a:t>
            </a:r>
          </a:p>
        </p:txBody>
      </p:sp>
      <p:sp>
        <p:nvSpPr>
          <p:cNvPr id="20" name="TextBox 19"/>
          <p:cNvSpPr txBox="1"/>
          <p:nvPr/>
        </p:nvSpPr>
        <p:spPr>
          <a:xfrm>
            <a:off x="6519672" y="5394960"/>
            <a:ext cx="4983480" cy="457200"/>
          </a:xfrm>
          <a:prstGeom prst="rect">
            <a:avLst/>
          </a:prstGeom>
          <a:noFill/>
        </p:spPr>
        <p:txBody>
          <a:bodyPr wrap="square" lIns="45720" rIns="45720" tIns="18288" bIns="18288" anchor="t">
            <a:spAutoFit/>
          </a:bodyPr>
          <a:lstStyle/>
          <a:p>
            <a:pPr algn="l">
              <a:lnSpc>
                <a:spcPct val="115000"/>
              </a:lnSpc>
              <a:spcAft>
                <a:spcPts val="400"/>
              </a:spcAft>
            </a:pPr>
            <a:r>
              <a:rPr sz="1200" b="0" i="1">
                <a:solidFill>
                  <a:srgbClr val="4B5563"/>
                </a:solidFill>
                <a:latin typeface="Calibri"/>
              </a:rPr>
              <a:t>Customer-facing systems, regulated domains, mission-critical apps</a:t>
            </a:r>
          </a:p>
        </p:txBody>
      </p:sp>
      <p:sp>
        <p:nvSpPr>
          <p:cNvPr id="21" name="Rounded Rectangle 20"/>
          <p:cNvSpPr/>
          <p:nvPr/>
        </p:nvSpPr>
        <p:spPr>
          <a:xfrm>
            <a:off x="548640" y="5852160"/>
            <a:ext cx="11091672" cy="45720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925312"/>
            <a:ext cx="10607040" cy="329184"/>
          </a:xfrm>
          <a:prstGeom prst="rect">
            <a:avLst/>
          </a:prstGeom>
          <a:noFill/>
        </p:spPr>
        <p:txBody>
          <a:bodyPr wrap="square" lIns="45720" rIns="45720" tIns="18288" bIns="18288" anchor="t">
            <a:spAutoFit/>
          </a:bodyPr>
          <a:lstStyle/>
          <a:p>
            <a:pPr algn="l">
              <a:lnSpc>
                <a:spcPct val="115000"/>
              </a:lnSpc>
              <a:spcAft>
                <a:spcPts val="400"/>
              </a:spcAft>
            </a:pPr>
            <a:r>
              <a:rPr sz="1300" b="1" i="1">
                <a:solidFill>
                  <a:srgbClr val="FFFFFF"/>
                </a:solidFill>
                <a:latin typeface="Calibri"/>
              </a:rPr>
              <a:t>Today's walk-through is firmly in the "vibe coding" category — and that's intentional.</a:t>
            </a:r>
          </a:p>
        </p:txBody>
      </p:sp>
      <p:sp>
        <p:nvSpPr>
          <p:cNvPr id="23" name="Rectangle 22"/>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25" name="TextBox 24"/>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THE BUSINESS NEED</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It Started With a Real Problem</a:t>
            </a:r>
          </a:p>
        </p:txBody>
      </p:sp>
      <p:sp>
        <p:nvSpPr>
          <p:cNvPr id="5" name="TextBox 4"/>
          <p:cNvSpPr txBox="1"/>
          <p:nvPr/>
        </p:nvSpPr>
        <p:spPr>
          <a:xfrm>
            <a:off x="548640" y="1691640"/>
            <a:ext cx="6583680" cy="1828800"/>
          </a:xfrm>
          <a:prstGeom prst="rect">
            <a:avLst/>
          </a:prstGeom>
          <a:noFill/>
        </p:spPr>
        <p:txBody>
          <a:bodyPr wrap="square" lIns="45720" rIns="45720" tIns="18288" bIns="18288" anchor="t">
            <a:spAutoFit/>
          </a:bodyPr>
          <a:lstStyle/>
          <a:p>
            <a:pPr algn="l">
              <a:lnSpc>
                <a:spcPct val="145000"/>
              </a:lnSpc>
              <a:spcAft>
                <a:spcPts val="400"/>
              </a:spcAft>
            </a:pPr>
            <a:r>
              <a:rPr sz="1500" b="0" i="0">
                <a:solidFill>
                  <a:srgbClr val="1F2937"/>
                </a:solidFill>
                <a:latin typeface="Calibri"/>
              </a:rPr>
              <a:t>Our organization works with complex veterinary diagnostic documents — multi-page PDFs describing laboratory tests, clinical applications, and product details. A team member wanted to explore whether an AI could read one of these documents and produce a marketing-ready summary automatically.</a:t>
            </a:r>
          </a:p>
        </p:txBody>
      </p:sp>
      <p:sp>
        <p:nvSpPr>
          <p:cNvPr id="6" name="TextBox 5"/>
          <p:cNvSpPr txBox="1"/>
          <p:nvPr/>
        </p:nvSpPr>
        <p:spPr>
          <a:xfrm>
            <a:off x="548640" y="3703320"/>
            <a:ext cx="6583680" cy="36576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D4A017"/>
                </a:solidFill>
                <a:latin typeface="Calibri"/>
              </a:rPr>
              <a:t>THE VISION</a:t>
            </a:r>
          </a:p>
        </p:txBody>
      </p:sp>
      <p:sp>
        <p:nvSpPr>
          <p:cNvPr id="7" name="Rounded Rectangle 6"/>
          <p:cNvSpPr/>
          <p:nvPr/>
        </p:nvSpPr>
        <p:spPr>
          <a:xfrm>
            <a:off x="548640" y="4069080"/>
            <a:ext cx="6583680" cy="182880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206240"/>
            <a:ext cx="6126480" cy="1645920"/>
          </a:xfrm>
          <a:prstGeom prst="rect">
            <a:avLst/>
          </a:prstGeom>
          <a:noFill/>
        </p:spPr>
        <p:txBody>
          <a:bodyPr wrap="square" lIns="45720" rIns="45720" tIns="18288" bIns="18288">
            <a:spAutoFit/>
          </a:bodyPr>
          <a:lstStyle/>
          <a:p>
            <a:pPr algn="l">
              <a:lnSpc>
                <a:spcPct val="135000"/>
              </a:lnSpc>
              <a:spcAft>
                <a:spcPts val="800"/>
              </a:spcAft>
            </a:pPr>
            <a:r>
              <a:rPr sz="1400" b="1">
                <a:solidFill>
                  <a:srgbClr val="D4A017"/>
                </a:solidFill>
                <a:latin typeface="Calibri"/>
              </a:rPr>
              <a:t>■  </a:t>
            </a:r>
            <a:r>
              <a:rPr sz="1400">
                <a:solidFill>
                  <a:srgbClr val="1F2937"/>
                </a:solidFill>
                <a:latin typeface="Calibri"/>
              </a:rPr>
              <a:t>Upload a PDF document to a web application</a:t>
            </a:r>
          </a:p>
          <a:p>
            <a:pPr algn="l">
              <a:lnSpc>
                <a:spcPct val="135000"/>
              </a:lnSpc>
              <a:spcAft>
                <a:spcPts val="800"/>
              </a:spcAft>
            </a:pPr>
            <a:r>
              <a:rPr sz="1400" b="1">
                <a:solidFill>
                  <a:srgbClr val="D4A017"/>
                </a:solidFill>
                <a:latin typeface="Calibri"/>
              </a:rPr>
              <a:t>■  </a:t>
            </a:r>
            <a:r>
              <a:rPr sz="1400">
                <a:solidFill>
                  <a:srgbClr val="1F2937"/>
                </a:solidFill>
                <a:latin typeface="Calibri"/>
              </a:rPr>
              <a:t>Ask an AI model to analyze it and generate a structured marketing summary</a:t>
            </a:r>
          </a:p>
          <a:p>
            <a:pPr algn="l">
              <a:lnSpc>
                <a:spcPct val="135000"/>
              </a:lnSpc>
              <a:spcAft>
                <a:spcPts val="800"/>
              </a:spcAft>
            </a:pPr>
            <a:r>
              <a:rPr sz="1400" b="1">
                <a:solidFill>
                  <a:srgbClr val="D4A017"/>
                </a:solidFill>
                <a:latin typeface="Calibri"/>
              </a:rPr>
              <a:t>■  </a:t>
            </a:r>
            <a:r>
              <a:rPr sz="1400">
                <a:solidFill>
                  <a:srgbClr val="1F2937"/>
                </a:solidFill>
                <a:latin typeface="Calibri"/>
              </a:rPr>
              <a:t>Continue the conversation to refine or ask follow-up questions</a:t>
            </a:r>
          </a:p>
        </p:txBody>
      </p:sp>
      <p:sp>
        <p:nvSpPr>
          <p:cNvPr id="9" name="Rectangle 8"/>
          <p:cNvSpPr/>
          <p:nvPr/>
        </p:nvSpPr>
        <p:spPr>
          <a:xfrm>
            <a:off x="7690103" y="2121408"/>
            <a:ext cx="1828800" cy="2377440"/>
          </a:xfrm>
          <a:prstGeom prst="rect">
            <a:avLst/>
          </a:prstGeom>
          <a:solidFill>
            <a:srgbClr val="E3EAF6"/>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616951" y="1975104"/>
            <a:ext cx="1828800" cy="2377440"/>
          </a:xfrm>
          <a:prstGeom prst="rect">
            <a:avLst/>
          </a:prstGeom>
          <a:solidFill>
            <a:srgbClr val="E3EAF6"/>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543799" y="1828800"/>
            <a:ext cx="1828800" cy="2377440"/>
          </a:xfrm>
          <a:prstGeom prst="rect">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680959" y="2057400"/>
            <a:ext cx="146304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680959" y="2331720"/>
            <a:ext cx="132588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680959" y="2606040"/>
            <a:ext cx="118872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680959" y="2880360"/>
            <a:ext cx="146304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680959" y="3154680"/>
            <a:ext cx="132588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680959" y="3429000"/>
            <a:ext cx="118872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680959" y="3703320"/>
            <a:ext cx="146304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680959" y="3977639"/>
            <a:ext cx="132588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98079" y="4297680"/>
            <a:ext cx="1920240" cy="274320"/>
          </a:xfrm>
          <a:prstGeom prst="rect">
            <a:avLst/>
          </a:prstGeom>
          <a:noFill/>
        </p:spPr>
        <p:txBody>
          <a:bodyPr wrap="square" lIns="45720" rIns="45720" tIns="18288" bIns="18288" anchor="t">
            <a:spAutoFit/>
          </a:bodyPr>
          <a:lstStyle/>
          <a:p>
            <a:pPr algn="ctr">
              <a:lnSpc>
                <a:spcPct val="115000"/>
              </a:lnSpc>
              <a:spcAft>
                <a:spcPts val="400"/>
              </a:spcAft>
            </a:pPr>
            <a:r>
              <a:rPr sz="900" b="1" i="0">
                <a:solidFill>
                  <a:srgbClr val="6B7280"/>
                </a:solidFill>
                <a:latin typeface="Calibri"/>
              </a:rPr>
              <a:t>PDF DOCUMENT</a:t>
            </a:r>
          </a:p>
        </p:txBody>
      </p:sp>
      <p:sp>
        <p:nvSpPr>
          <p:cNvPr id="21" name="Right Arrow 20"/>
          <p:cNvSpPr/>
          <p:nvPr/>
        </p:nvSpPr>
        <p:spPr>
          <a:xfrm>
            <a:off x="9555479" y="2743200"/>
            <a:ext cx="640080" cy="41148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286999" y="1828800"/>
            <a:ext cx="1920240" cy="237744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59" y="1965960"/>
            <a:ext cx="1691640" cy="36576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AI SUMMARY</a:t>
            </a:r>
          </a:p>
        </p:txBody>
      </p:sp>
      <p:sp>
        <p:nvSpPr>
          <p:cNvPr id="24" name="TextBox 23"/>
          <p:cNvSpPr txBox="1"/>
          <p:nvPr/>
        </p:nvSpPr>
        <p:spPr>
          <a:xfrm>
            <a:off x="10424159" y="2286000"/>
            <a:ext cx="1691640" cy="1828800"/>
          </a:xfrm>
          <a:prstGeom prst="rect">
            <a:avLst/>
          </a:prstGeom>
          <a:noFill/>
        </p:spPr>
        <p:txBody>
          <a:bodyPr wrap="square" lIns="45720" rIns="45720" tIns="18288" bIns="18288" anchor="t">
            <a:spAutoFit/>
          </a:bodyPr>
          <a:lstStyle/>
          <a:p>
            <a:pPr algn="l">
              <a:lnSpc>
                <a:spcPct val="145000"/>
              </a:lnSpc>
              <a:spcAft>
                <a:spcPts val="400"/>
              </a:spcAft>
            </a:pPr>
            <a:r>
              <a:rPr sz="1200" b="0" i="0">
                <a:solidFill>
                  <a:srgbClr val="FFFFFF"/>
                </a:solidFill>
                <a:latin typeface="Consolas"/>
              </a:rPr>
              <a:t>Test purpose
Clinical use
Key advantages
Talking points</a:t>
            </a:r>
          </a:p>
        </p:txBody>
      </p:sp>
      <p:sp>
        <p:nvSpPr>
          <p:cNvPr id="25" name="TextBox 24"/>
          <p:cNvSpPr txBox="1"/>
          <p:nvPr/>
        </p:nvSpPr>
        <p:spPr>
          <a:xfrm>
            <a:off x="10241279" y="4297680"/>
            <a:ext cx="2011680" cy="274320"/>
          </a:xfrm>
          <a:prstGeom prst="rect">
            <a:avLst/>
          </a:prstGeom>
          <a:noFill/>
        </p:spPr>
        <p:txBody>
          <a:bodyPr wrap="square" lIns="45720" rIns="45720" tIns="18288" bIns="18288" anchor="t">
            <a:spAutoFit/>
          </a:bodyPr>
          <a:lstStyle/>
          <a:p>
            <a:pPr algn="ctr">
              <a:lnSpc>
                <a:spcPct val="115000"/>
              </a:lnSpc>
              <a:spcAft>
                <a:spcPts val="400"/>
              </a:spcAft>
            </a:pPr>
            <a:r>
              <a:rPr sz="900" b="1" i="0">
                <a:solidFill>
                  <a:srgbClr val="6B7280"/>
                </a:solidFill>
                <a:latin typeface="Calibri"/>
              </a:rPr>
              <a:t>MARKETING-READY OUTPUT</a:t>
            </a:r>
          </a:p>
        </p:txBody>
      </p:sp>
      <p:sp>
        <p:nvSpPr>
          <p:cNvPr id="26" name="Rounded Rectangle 25"/>
          <p:cNvSpPr/>
          <p:nvPr/>
        </p:nvSpPr>
        <p:spPr>
          <a:xfrm>
            <a:off x="548640" y="5852160"/>
            <a:ext cx="11091672" cy="45720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925312"/>
            <a:ext cx="10607040" cy="329184"/>
          </a:xfrm>
          <a:prstGeom prst="rect">
            <a:avLst/>
          </a:prstGeom>
          <a:noFill/>
        </p:spPr>
        <p:txBody>
          <a:bodyPr wrap="square" lIns="45720" rIns="45720" tIns="18288" bIns="18288" anchor="t">
            <a:spAutoFit/>
          </a:bodyPr>
          <a:lstStyle/>
          <a:p>
            <a:pPr algn="l">
              <a:lnSpc>
                <a:spcPct val="115000"/>
              </a:lnSpc>
              <a:spcAft>
                <a:spcPts val="400"/>
              </a:spcAft>
            </a:pPr>
            <a:r>
              <a:rPr sz="1300" b="1" i="1">
                <a:solidFill>
                  <a:srgbClr val="FFFFFF"/>
                </a:solidFill>
                <a:latin typeface="Calibri"/>
              </a:rPr>
              <a:t>No engineering team. No project ticket. No sprint planning. Just a business idea and an AI coding tool.</a:t>
            </a:r>
          </a:p>
        </p:txBody>
      </p:sp>
      <p:sp>
        <p:nvSpPr>
          <p:cNvPr id="28" name="Rectangle 27"/>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30" name="TextBox 29"/>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THE TOOL</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Meet Claude Code</a:t>
            </a:r>
          </a:p>
        </p:txBody>
      </p:sp>
      <p:sp>
        <p:nvSpPr>
          <p:cNvPr id="5" name="TextBox 4"/>
          <p:cNvSpPr txBox="1"/>
          <p:nvPr/>
        </p:nvSpPr>
        <p:spPr>
          <a:xfrm>
            <a:off x="548640" y="1691640"/>
            <a:ext cx="5852160" cy="1463040"/>
          </a:xfrm>
          <a:prstGeom prst="rect">
            <a:avLst/>
          </a:prstGeom>
          <a:noFill/>
        </p:spPr>
        <p:txBody>
          <a:bodyPr wrap="square" lIns="45720" rIns="45720" tIns="18288" bIns="18288" anchor="t">
            <a:spAutoFit/>
          </a:bodyPr>
          <a:lstStyle/>
          <a:p>
            <a:pPr algn="l">
              <a:lnSpc>
                <a:spcPct val="140000"/>
              </a:lnSpc>
              <a:spcAft>
                <a:spcPts val="400"/>
              </a:spcAft>
            </a:pPr>
            <a:r>
              <a:rPr sz="1400" b="0" i="0">
                <a:solidFill>
                  <a:srgbClr val="1F2937"/>
                </a:solidFill>
                <a:latin typeface="Calibri"/>
              </a:rPr>
              <a:t>Claude Code is an AI coding assistant built by Anthropic. It runs in a terminal window alongside your code editor. You describe what you want — in plain English — and it writes, edits, and debugs code in response.</a:t>
            </a:r>
          </a:p>
        </p:txBody>
      </p:sp>
      <p:sp>
        <p:nvSpPr>
          <p:cNvPr id="6" name="TextBox 5"/>
          <p:cNvSpPr txBox="1"/>
          <p:nvPr/>
        </p:nvSpPr>
        <p:spPr>
          <a:xfrm>
            <a:off x="548640" y="3337560"/>
            <a:ext cx="5852160" cy="32004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D4A017"/>
                </a:solidFill>
                <a:latin typeface="Calibri"/>
              </a:rPr>
              <a:t>KEY CHARACTERISTICS</a:t>
            </a:r>
          </a:p>
        </p:txBody>
      </p:sp>
      <p:sp>
        <p:nvSpPr>
          <p:cNvPr id="7" name="TextBox 6"/>
          <p:cNvSpPr txBox="1"/>
          <p:nvPr/>
        </p:nvSpPr>
        <p:spPr>
          <a:xfrm>
            <a:off x="548640" y="3657600"/>
            <a:ext cx="5852160" cy="2560320"/>
          </a:xfrm>
          <a:prstGeom prst="rect">
            <a:avLst/>
          </a:prstGeom>
          <a:noFill/>
        </p:spPr>
        <p:txBody>
          <a:bodyPr wrap="square" lIns="45720" rIns="45720" tIns="18288" bIns="18288">
            <a:spAutoFit/>
          </a:bodyPr>
          <a:lstStyle/>
          <a:p>
            <a:pPr algn="l">
              <a:lnSpc>
                <a:spcPct val="125000"/>
              </a:lnSpc>
              <a:spcAft>
                <a:spcPts val="600"/>
              </a:spcAft>
            </a:pPr>
            <a:r>
              <a:rPr sz="1300" b="1">
                <a:solidFill>
                  <a:srgbClr val="D4A017"/>
                </a:solidFill>
                <a:latin typeface="Calibri"/>
              </a:rPr>
              <a:t>■  </a:t>
            </a:r>
            <a:r>
              <a:rPr sz="1300">
                <a:solidFill>
                  <a:srgbClr val="1F2937"/>
                </a:solidFill>
                <a:latin typeface="Calibri"/>
              </a:rPr>
              <a:t>Reads and understands your entire codebase as context</a:t>
            </a:r>
          </a:p>
          <a:p>
            <a:pPr algn="l">
              <a:lnSpc>
                <a:spcPct val="125000"/>
              </a:lnSpc>
              <a:spcAft>
                <a:spcPts val="600"/>
              </a:spcAft>
            </a:pPr>
            <a:r>
              <a:rPr sz="1300" b="1">
                <a:solidFill>
                  <a:srgbClr val="D4A017"/>
                </a:solidFill>
                <a:latin typeface="Calibri"/>
              </a:rPr>
              <a:t>■  </a:t>
            </a:r>
            <a:r>
              <a:rPr sz="1300">
                <a:solidFill>
                  <a:srgbClr val="1F2937"/>
                </a:solidFill>
                <a:latin typeface="Calibri"/>
              </a:rPr>
              <a:t>Writes code across multiple files simultaneously</a:t>
            </a:r>
          </a:p>
          <a:p>
            <a:pPr algn="l">
              <a:lnSpc>
                <a:spcPct val="125000"/>
              </a:lnSpc>
              <a:spcAft>
                <a:spcPts val="600"/>
              </a:spcAft>
            </a:pPr>
            <a:r>
              <a:rPr sz="1300" b="1">
                <a:solidFill>
                  <a:srgbClr val="D4A017"/>
                </a:solidFill>
                <a:latin typeface="Calibri"/>
              </a:rPr>
              <a:t>■  </a:t>
            </a:r>
            <a:r>
              <a:rPr sz="1300">
                <a:solidFill>
                  <a:srgbClr val="1F2937"/>
                </a:solidFill>
                <a:latin typeface="Calibri"/>
              </a:rPr>
              <a:t>Asks clarifying questions before making assumptions</a:t>
            </a:r>
          </a:p>
          <a:p>
            <a:pPr algn="l">
              <a:lnSpc>
                <a:spcPct val="125000"/>
              </a:lnSpc>
              <a:spcAft>
                <a:spcPts val="600"/>
              </a:spcAft>
            </a:pPr>
            <a:r>
              <a:rPr sz="1300" b="1">
                <a:solidFill>
                  <a:srgbClr val="D4A017"/>
                </a:solidFill>
                <a:latin typeface="Calibri"/>
              </a:rPr>
              <a:t>■  </a:t>
            </a:r>
            <a:r>
              <a:rPr sz="1300">
                <a:solidFill>
                  <a:srgbClr val="1F2937"/>
                </a:solidFill>
                <a:latin typeface="Calibri"/>
              </a:rPr>
              <a:t>Explains its decisions and trade-offs</a:t>
            </a:r>
          </a:p>
          <a:p>
            <a:pPr algn="l">
              <a:lnSpc>
                <a:spcPct val="125000"/>
              </a:lnSpc>
              <a:spcAft>
                <a:spcPts val="600"/>
              </a:spcAft>
            </a:pPr>
            <a:r>
              <a:rPr sz="1300" b="1">
                <a:solidFill>
                  <a:srgbClr val="D4A017"/>
                </a:solidFill>
                <a:latin typeface="Calibri"/>
              </a:rPr>
              <a:t>■  </a:t>
            </a:r>
            <a:r>
              <a:rPr sz="1300">
                <a:solidFill>
                  <a:srgbClr val="1F2937"/>
                </a:solidFill>
                <a:latin typeface="Calibri"/>
              </a:rPr>
              <a:t>Can run commands, install packages, and check results</a:t>
            </a:r>
          </a:p>
        </p:txBody>
      </p:sp>
      <p:sp>
        <p:nvSpPr>
          <p:cNvPr id="8" name="Rounded Rectangle 7"/>
          <p:cNvSpPr/>
          <p:nvPr/>
        </p:nvSpPr>
        <p:spPr>
          <a:xfrm>
            <a:off x="6766560" y="1691640"/>
            <a:ext cx="4937760" cy="4434840"/>
          </a:xfrm>
          <a:prstGeom prst="roundRect">
            <a:avLst>
              <a:gd name="adj" fmla="val 6000"/>
            </a:avLst>
          </a:prstGeom>
          <a:solidFill>
            <a:srgbClr val="12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0" y="1691640"/>
            <a:ext cx="4937760" cy="384048"/>
          </a:xfrm>
          <a:prstGeom prst="roundRect">
            <a:avLst>
              <a:gd name="adj" fmla="val 6000"/>
            </a:avLst>
          </a:prstGeom>
          <a:solidFill>
            <a:srgbClr val="1F29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949440" y="1810512"/>
            <a:ext cx="164592" cy="164592"/>
          </a:xfrm>
          <a:prstGeom prst="ellipse">
            <a:avLst/>
          </a:prstGeom>
          <a:solidFill>
            <a:srgbClr val="E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205472" y="1810512"/>
            <a:ext cx="164592" cy="164592"/>
          </a:xfrm>
          <a:prstGeom prst="ellipse">
            <a:avLst/>
          </a:prstGeom>
          <a:solidFill>
            <a:srgbClr val="E0C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461504" y="1810512"/>
            <a:ext cx="164592" cy="164592"/>
          </a:xfrm>
          <a:prstGeom prst="ellipse">
            <a:avLst/>
          </a:prstGeom>
          <a:solidFill>
            <a:srgbClr val="70C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55648"/>
            <a:ext cx="3108960" cy="274320"/>
          </a:xfrm>
          <a:prstGeom prst="rect">
            <a:avLst/>
          </a:prstGeom>
          <a:noFill/>
        </p:spPr>
        <p:txBody>
          <a:bodyPr wrap="square" lIns="45720" rIns="45720" tIns="18288" bIns="18288" anchor="t">
            <a:spAutoFit/>
          </a:bodyPr>
          <a:lstStyle/>
          <a:p>
            <a:pPr algn="ctr">
              <a:lnSpc>
                <a:spcPct val="115000"/>
              </a:lnSpc>
              <a:spcAft>
                <a:spcPts val="400"/>
              </a:spcAft>
            </a:pPr>
            <a:r>
              <a:rPr sz="1000" b="0" i="0">
                <a:solidFill>
                  <a:srgbClr val="9CA8C0"/>
                </a:solidFill>
                <a:latin typeface="Consolas"/>
              </a:rPr>
              <a:t>claude-code  ·  pdf-summarizer</a:t>
            </a:r>
          </a:p>
        </p:txBody>
      </p:sp>
      <p:sp>
        <p:nvSpPr>
          <p:cNvPr id="14" name="TextBox 13"/>
          <p:cNvSpPr txBox="1"/>
          <p:nvPr/>
        </p:nvSpPr>
        <p:spPr>
          <a:xfrm>
            <a:off x="6995160" y="2194560"/>
            <a:ext cx="4480560" cy="292608"/>
          </a:xfrm>
          <a:prstGeom prst="rect">
            <a:avLst/>
          </a:prstGeom>
          <a:noFill/>
        </p:spPr>
        <p:txBody>
          <a:bodyPr wrap="square" lIns="45720" rIns="45720" tIns="18288" bIns="18288" anchor="t">
            <a:spAutoFit/>
          </a:bodyPr>
          <a:lstStyle/>
          <a:p>
            <a:pPr algn="l">
              <a:lnSpc>
                <a:spcPct val="120000"/>
              </a:lnSpc>
              <a:spcAft>
                <a:spcPts val="0"/>
              </a:spcAft>
            </a:pPr>
            <a:r>
              <a:rPr sz="1100" b="1" i="0">
                <a:solidFill>
                  <a:srgbClr val="D4A017"/>
                </a:solidFill>
                <a:latin typeface="Consolas"/>
              </a:rPr>
              <a:t>&gt; </a:t>
            </a:r>
            <a:r>
              <a:rPr sz="1100" b="0" i="0">
                <a:solidFill>
                  <a:srgbClr val="FFFFFF"/>
                </a:solidFill>
                <a:latin typeface="Consolas"/>
              </a:rPr>
              <a:t>Build me a web app that lets users upload a PDF</a:t>
            </a:r>
          </a:p>
        </p:txBody>
      </p:sp>
      <p:sp>
        <p:nvSpPr>
          <p:cNvPr id="15" name="TextBox 14"/>
          <p:cNvSpPr txBox="1"/>
          <p:nvPr/>
        </p:nvSpPr>
        <p:spPr>
          <a:xfrm>
            <a:off x="6995160" y="2468880"/>
            <a:ext cx="4480560" cy="292608"/>
          </a:xfrm>
          <a:prstGeom prst="rect">
            <a:avLst/>
          </a:prstGeom>
          <a:noFill/>
        </p:spPr>
        <p:txBody>
          <a:bodyPr wrap="square" lIns="45720" rIns="45720" tIns="18288" bIns="18288" anchor="t">
            <a:spAutoFit/>
          </a:bodyPr>
          <a:lstStyle/>
          <a:p>
            <a:pPr algn="l">
              <a:lnSpc>
                <a:spcPct val="120000"/>
              </a:lnSpc>
              <a:spcAft>
                <a:spcPts val="0"/>
              </a:spcAft>
            </a:pPr>
            <a:r>
              <a:rPr sz="1100" b="0" i="0">
                <a:solidFill>
                  <a:srgbClr val="FFFFFF"/>
                </a:solidFill>
                <a:latin typeface="Consolas"/>
              </a:rPr>
              <a:t>  </a:t>
            </a:r>
            <a:r>
              <a:rPr sz="1100" b="0" i="0">
                <a:solidFill>
                  <a:srgbClr val="FFFFFF"/>
                </a:solidFill>
                <a:latin typeface="Consolas"/>
              </a:rPr>
              <a:t>and have an AI summarize it for marketing.</a:t>
            </a:r>
          </a:p>
        </p:txBody>
      </p:sp>
      <p:sp>
        <p:nvSpPr>
          <p:cNvPr id="16" name="TextBox 15"/>
          <p:cNvSpPr txBox="1"/>
          <p:nvPr/>
        </p:nvSpPr>
        <p:spPr>
          <a:xfrm>
            <a:off x="6995160" y="2880360"/>
            <a:ext cx="4480560" cy="292608"/>
          </a:xfrm>
          <a:prstGeom prst="rect">
            <a:avLst/>
          </a:prstGeom>
          <a:noFill/>
        </p:spPr>
        <p:txBody>
          <a:bodyPr wrap="square" lIns="45720" rIns="45720" tIns="18288" bIns="18288" anchor="t">
            <a:spAutoFit/>
          </a:bodyPr>
          <a:lstStyle/>
          <a:p>
            <a:pPr algn="l">
              <a:lnSpc>
                <a:spcPct val="120000"/>
              </a:lnSpc>
              <a:spcAft>
                <a:spcPts val="0"/>
              </a:spcAft>
            </a:pPr>
            <a:r>
              <a:rPr sz="1100" b="1" i="0">
                <a:solidFill>
                  <a:srgbClr val="228855"/>
                </a:solidFill>
                <a:latin typeface="Consolas"/>
              </a:rPr>
              <a:t>● </a:t>
            </a:r>
            <a:r>
              <a:rPr sz="1100" b="0" i="0">
                <a:solidFill>
                  <a:srgbClr val="CDD4E6"/>
                </a:solidFill>
                <a:latin typeface="Consolas"/>
              </a:rPr>
              <a:t>I'll need to confirm a few decisions:</a:t>
            </a:r>
          </a:p>
        </p:txBody>
      </p:sp>
      <p:sp>
        <p:nvSpPr>
          <p:cNvPr id="17" name="TextBox 16"/>
          <p:cNvSpPr txBox="1"/>
          <p:nvPr/>
        </p:nvSpPr>
        <p:spPr>
          <a:xfrm>
            <a:off x="6995160" y="3154680"/>
            <a:ext cx="4480560" cy="292608"/>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6B7280"/>
                </a:solidFill>
                <a:latin typeface="Consolas"/>
              </a:rPr>
              <a:t>  1. </a:t>
            </a:r>
            <a:r>
              <a:rPr sz="1000" b="0" i="0">
                <a:solidFill>
                  <a:srgbClr val="CDD4E6"/>
                </a:solidFill>
                <a:latin typeface="Consolas"/>
              </a:rPr>
              <a:t>Where should the API key live — UI or config?</a:t>
            </a:r>
          </a:p>
        </p:txBody>
      </p:sp>
      <p:sp>
        <p:nvSpPr>
          <p:cNvPr id="18" name="TextBox 17"/>
          <p:cNvSpPr txBox="1"/>
          <p:nvPr/>
        </p:nvSpPr>
        <p:spPr>
          <a:xfrm>
            <a:off x="6995160" y="3401568"/>
            <a:ext cx="4480560" cy="292608"/>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6B7280"/>
                </a:solidFill>
                <a:latin typeface="Consolas"/>
              </a:rPr>
              <a:t>  2. </a:t>
            </a:r>
            <a:r>
              <a:rPr sz="1000" b="0" i="0">
                <a:solidFill>
                  <a:srgbClr val="CDD4E6"/>
                </a:solidFill>
                <a:latin typeface="Consolas"/>
              </a:rPr>
              <a:t>Should the frontend call AI APIs directly,</a:t>
            </a:r>
          </a:p>
        </p:txBody>
      </p:sp>
      <p:sp>
        <p:nvSpPr>
          <p:cNvPr id="19" name="TextBox 18"/>
          <p:cNvSpPr txBox="1"/>
          <p:nvPr/>
        </p:nvSpPr>
        <p:spPr>
          <a:xfrm>
            <a:off x="6995160" y="3611880"/>
            <a:ext cx="4480560" cy="292608"/>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6B7280"/>
                </a:solidFill>
                <a:latin typeface="Consolas"/>
              </a:rPr>
              <a:t>     </a:t>
            </a:r>
            <a:r>
              <a:rPr sz="1000" b="0" i="0">
                <a:solidFill>
                  <a:srgbClr val="CDD4E6"/>
                </a:solidFill>
                <a:latin typeface="Consolas"/>
              </a:rPr>
              <a:t>or proxy through the backend?</a:t>
            </a:r>
          </a:p>
        </p:txBody>
      </p:sp>
      <p:sp>
        <p:nvSpPr>
          <p:cNvPr id="20" name="TextBox 19"/>
          <p:cNvSpPr txBox="1"/>
          <p:nvPr/>
        </p:nvSpPr>
        <p:spPr>
          <a:xfrm>
            <a:off x="6995160" y="3886200"/>
            <a:ext cx="4480560" cy="292608"/>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6B7280"/>
                </a:solidFill>
                <a:latin typeface="Consolas"/>
              </a:rPr>
              <a:t>  3. </a:t>
            </a:r>
            <a:r>
              <a:rPr sz="1000" b="0" i="0">
                <a:solidFill>
                  <a:srgbClr val="CDD4E6"/>
                </a:solidFill>
                <a:latin typeface="Consolas"/>
              </a:rPr>
              <a:t>Do we need session persistence (a database)?</a:t>
            </a:r>
          </a:p>
        </p:txBody>
      </p:sp>
      <p:sp>
        <p:nvSpPr>
          <p:cNvPr id="21" name="TextBox 20"/>
          <p:cNvSpPr txBox="1"/>
          <p:nvPr/>
        </p:nvSpPr>
        <p:spPr>
          <a:xfrm>
            <a:off x="6995160" y="4297680"/>
            <a:ext cx="4480560" cy="292608"/>
          </a:xfrm>
          <a:prstGeom prst="rect">
            <a:avLst/>
          </a:prstGeom>
          <a:noFill/>
        </p:spPr>
        <p:txBody>
          <a:bodyPr wrap="square" lIns="45720" rIns="45720" tIns="18288" bIns="18288" anchor="t">
            <a:spAutoFit/>
          </a:bodyPr>
          <a:lstStyle/>
          <a:p>
            <a:pPr algn="l">
              <a:lnSpc>
                <a:spcPct val="120000"/>
              </a:lnSpc>
              <a:spcAft>
                <a:spcPts val="0"/>
              </a:spcAft>
            </a:pPr>
            <a:r>
              <a:rPr sz="1100" b="1" i="0">
                <a:solidFill>
                  <a:srgbClr val="D4A017"/>
                </a:solidFill>
                <a:latin typeface="Consolas"/>
              </a:rPr>
              <a:t>&gt; </a:t>
            </a:r>
            <a:r>
              <a:rPr sz="1100" b="0" i="0">
                <a:solidFill>
                  <a:srgbClr val="FFFFFF"/>
                </a:solidFill>
                <a:latin typeface="Consolas"/>
              </a:rPr>
              <a:t>Backend proxy. No DB. UI for keys.</a:t>
            </a:r>
          </a:p>
        </p:txBody>
      </p:sp>
      <p:sp>
        <p:nvSpPr>
          <p:cNvPr id="22" name="TextBox 21"/>
          <p:cNvSpPr txBox="1"/>
          <p:nvPr/>
        </p:nvSpPr>
        <p:spPr>
          <a:xfrm>
            <a:off x="6995160" y="4617720"/>
            <a:ext cx="4480560" cy="292608"/>
          </a:xfrm>
          <a:prstGeom prst="rect">
            <a:avLst/>
          </a:prstGeom>
          <a:noFill/>
        </p:spPr>
        <p:txBody>
          <a:bodyPr wrap="square" lIns="45720" rIns="45720" tIns="18288" bIns="18288" anchor="t">
            <a:spAutoFit/>
          </a:bodyPr>
          <a:lstStyle/>
          <a:p>
            <a:pPr algn="l">
              <a:lnSpc>
                <a:spcPct val="120000"/>
              </a:lnSpc>
              <a:spcAft>
                <a:spcPts val="0"/>
              </a:spcAft>
            </a:pPr>
            <a:r>
              <a:rPr sz="1100" b="1" i="0">
                <a:solidFill>
                  <a:srgbClr val="228855"/>
                </a:solidFill>
                <a:latin typeface="Consolas"/>
              </a:rPr>
              <a:t>● </a:t>
            </a:r>
            <a:r>
              <a:rPr sz="1100" b="0" i="0">
                <a:solidFill>
                  <a:srgbClr val="CDD4E6"/>
                </a:solidFill>
                <a:latin typeface="Consolas"/>
              </a:rPr>
              <a:t>Generating files...</a:t>
            </a:r>
          </a:p>
        </p:txBody>
      </p:sp>
      <p:sp>
        <p:nvSpPr>
          <p:cNvPr id="23" name="TextBox 22"/>
          <p:cNvSpPr txBox="1"/>
          <p:nvPr/>
        </p:nvSpPr>
        <p:spPr>
          <a:xfrm>
            <a:off x="6995160" y="4892040"/>
            <a:ext cx="4480560" cy="292608"/>
          </a:xfrm>
          <a:prstGeom prst="rect">
            <a:avLst/>
          </a:prstGeom>
          <a:noFill/>
        </p:spPr>
        <p:txBody>
          <a:bodyPr wrap="square" lIns="45720" rIns="45720" tIns="18288" bIns="18288" anchor="t">
            <a:spAutoFit/>
          </a:bodyPr>
          <a:lstStyle/>
          <a:p>
            <a:pPr algn="l">
              <a:lnSpc>
                <a:spcPct val="120000"/>
              </a:lnSpc>
              <a:spcAft>
                <a:spcPts val="0"/>
              </a:spcAft>
            </a:pPr>
            <a:r>
              <a:rPr sz="900" b="0" i="0">
                <a:solidFill>
                  <a:srgbClr val="228855"/>
                </a:solidFill>
                <a:latin typeface="Consolas"/>
              </a:rPr>
              <a:t>  ✓ </a:t>
            </a:r>
            <a:r>
              <a:rPr sz="900" b="0" i="0">
                <a:solidFill>
                  <a:srgbClr val="9CA8C0"/>
                </a:solidFill>
                <a:latin typeface="Consolas"/>
              </a:rPr>
              <a:t>server/app.js   ✓ angular.json   ✓ chat.component.ts</a:t>
            </a:r>
          </a:p>
        </p:txBody>
      </p:sp>
      <p:sp>
        <p:nvSpPr>
          <p:cNvPr id="24" name="TextBox 23"/>
          <p:cNvSpPr txBox="1"/>
          <p:nvPr/>
        </p:nvSpPr>
        <p:spPr>
          <a:xfrm>
            <a:off x="6995160" y="5120640"/>
            <a:ext cx="4480560" cy="292608"/>
          </a:xfrm>
          <a:prstGeom prst="rect">
            <a:avLst/>
          </a:prstGeom>
          <a:noFill/>
        </p:spPr>
        <p:txBody>
          <a:bodyPr wrap="square" lIns="45720" rIns="45720" tIns="18288" bIns="18288" anchor="t">
            <a:spAutoFit/>
          </a:bodyPr>
          <a:lstStyle/>
          <a:p>
            <a:pPr algn="l">
              <a:lnSpc>
                <a:spcPct val="120000"/>
              </a:lnSpc>
              <a:spcAft>
                <a:spcPts val="0"/>
              </a:spcAft>
            </a:pPr>
            <a:r>
              <a:rPr sz="900" b="0" i="0">
                <a:solidFill>
                  <a:srgbClr val="228855"/>
                </a:solidFill>
                <a:latin typeface="Consolas"/>
              </a:rPr>
              <a:t>  ✓ </a:t>
            </a:r>
            <a:r>
              <a:rPr sz="900" b="0" i="0">
                <a:solidFill>
                  <a:srgbClr val="9CA8C0"/>
                </a:solidFill>
                <a:latin typeface="Consolas"/>
              </a:rPr>
              <a:t>upload.service.ts   ✓ README.md   …  +23 more</a:t>
            </a:r>
          </a:p>
        </p:txBody>
      </p:sp>
      <p:sp>
        <p:nvSpPr>
          <p:cNvPr id="25" name="TextBox 24"/>
          <p:cNvSpPr txBox="1"/>
          <p:nvPr/>
        </p:nvSpPr>
        <p:spPr>
          <a:xfrm>
            <a:off x="6995160" y="5532120"/>
            <a:ext cx="4480560" cy="292608"/>
          </a:xfrm>
          <a:prstGeom prst="rect">
            <a:avLst/>
          </a:prstGeom>
          <a:noFill/>
        </p:spPr>
        <p:txBody>
          <a:bodyPr wrap="square" lIns="45720" rIns="45720" tIns="18288" bIns="18288" anchor="t">
            <a:spAutoFit/>
          </a:bodyPr>
          <a:lstStyle/>
          <a:p>
            <a:pPr algn="l">
              <a:lnSpc>
                <a:spcPct val="120000"/>
              </a:lnSpc>
              <a:spcAft>
                <a:spcPts val="0"/>
              </a:spcAft>
            </a:pPr>
            <a:r>
              <a:rPr sz="1100" b="1" i="0">
                <a:solidFill>
                  <a:srgbClr val="D4A017"/>
                </a:solidFill>
                <a:latin typeface="Consolas"/>
              </a:rPr>
              <a:t>&gt; </a:t>
            </a:r>
            <a:r>
              <a:rPr sz="1100" b="0" i="0">
                <a:solidFill>
                  <a:srgbClr val="FFFFFF"/>
                </a:solidFill>
                <a:latin typeface="Consolas"/>
              </a:rPr>
              <a:t>▋</a:t>
            </a:r>
          </a:p>
        </p:txBody>
      </p:sp>
      <p:sp>
        <p:nvSpPr>
          <p:cNvPr id="26" name="Rectangle 25"/>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28" name="TextBox 27"/>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STEP 1</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Write a Clear Vision</a:t>
            </a:r>
          </a:p>
        </p:txBody>
      </p:sp>
      <p:sp>
        <p:nvSpPr>
          <p:cNvPr id="5" name="TextBox 4"/>
          <p:cNvSpPr txBox="1"/>
          <p:nvPr/>
        </p:nvSpPr>
        <p:spPr>
          <a:xfrm>
            <a:off x="548640" y="1417320"/>
            <a:ext cx="10972800" cy="411480"/>
          </a:xfrm>
          <a:prstGeom prst="rect">
            <a:avLst/>
          </a:prstGeom>
          <a:noFill/>
        </p:spPr>
        <p:txBody>
          <a:bodyPr wrap="square" lIns="45720" rIns="45720" tIns="18288" bIns="18288" anchor="t">
            <a:spAutoFit/>
          </a:bodyPr>
          <a:lstStyle/>
          <a:p>
            <a:pPr algn="l">
              <a:lnSpc>
                <a:spcPct val="115000"/>
              </a:lnSpc>
              <a:spcAft>
                <a:spcPts val="400"/>
              </a:spcAft>
            </a:pPr>
            <a:r>
              <a:rPr sz="1400" b="0" i="1">
                <a:solidFill>
                  <a:srgbClr val="4B5563"/>
                </a:solidFill>
                <a:latin typeface="Calibri"/>
              </a:rPr>
              <a:t>The process began with a single, detailed message. Here is what it covered:</a:t>
            </a:r>
          </a:p>
        </p:txBody>
      </p:sp>
      <p:sp>
        <p:nvSpPr>
          <p:cNvPr id="6" name="Rounded Rectangle 5"/>
          <p:cNvSpPr/>
          <p:nvPr/>
        </p:nvSpPr>
        <p:spPr>
          <a:xfrm>
            <a:off x="548640" y="1874519"/>
            <a:ext cx="5550408"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91440" cy="841248"/>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 y="2075687"/>
            <a:ext cx="457200" cy="45720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121407"/>
            <a:ext cx="457200" cy="36576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FFFFFF"/>
                </a:solidFill>
                <a:latin typeface="Calibri"/>
              </a:rPr>
              <a:t>1</a:t>
            </a:r>
          </a:p>
        </p:txBody>
      </p:sp>
      <p:sp>
        <p:nvSpPr>
          <p:cNvPr id="10" name="TextBox 9"/>
          <p:cNvSpPr txBox="1"/>
          <p:nvPr/>
        </p:nvSpPr>
        <p:spPr>
          <a:xfrm>
            <a:off x="1417320" y="1993391"/>
            <a:ext cx="4544568" cy="365760"/>
          </a:xfrm>
          <a:prstGeom prst="rect">
            <a:avLst/>
          </a:prstGeom>
          <a:noFill/>
        </p:spPr>
        <p:txBody>
          <a:bodyPr wrap="square" lIns="45720" rIns="45720" tIns="18288" bIns="18288" anchor="t">
            <a:spAutoFit/>
          </a:bodyPr>
          <a:lstStyle/>
          <a:p>
            <a:pPr algn="l">
              <a:lnSpc>
                <a:spcPct val="100000"/>
              </a:lnSpc>
              <a:spcAft>
                <a:spcPts val="0"/>
              </a:spcAft>
            </a:pPr>
            <a:r>
              <a:rPr sz="1400" b="1" i="0">
                <a:solidFill>
                  <a:srgbClr val="1A2B5E"/>
                </a:solidFill>
                <a:latin typeface="Calibri"/>
              </a:rPr>
              <a:t>Platform</a:t>
            </a:r>
          </a:p>
        </p:txBody>
      </p:sp>
      <p:sp>
        <p:nvSpPr>
          <p:cNvPr id="11" name="TextBox 10"/>
          <p:cNvSpPr txBox="1"/>
          <p:nvPr/>
        </p:nvSpPr>
        <p:spPr>
          <a:xfrm>
            <a:off x="1417320" y="2285999"/>
            <a:ext cx="4544568" cy="457200"/>
          </a:xfrm>
          <a:prstGeom prst="rect">
            <a:avLst/>
          </a:prstGeom>
          <a:noFill/>
        </p:spPr>
        <p:txBody>
          <a:bodyPr wrap="square" lIns="45720" rIns="45720" tIns="18288" bIns="18288" anchor="t">
            <a:spAutoFit/>
          </a:bodyPr>
          <a:lstStyle/>
          <a:p>
            <a:pPr algn="l">
              <a:lnSpc>
                <a:spcPct val="120000"/>
              </a:lnSpc>
              <a:spcAft>
                <a:spcPts val="0"/>
              </a:spcAft>
            </a:pPr>
            <a:r>
              <a:rPr sz="1100" b="0" i="0">
                <a:solidFill>
                  <a:srgbClr val="4B5563"/>
                </a:solidFill>
                <a:latin typeface="Calibri"/>
              </a:rPr>
              <a:t>Web app — Node.js + Angular (matches existing standards)</a:t>
            </a:r>
          </a:p>
        </p:txBody>
      </p:sp>
      <p:sp>
        <p:nvSpPr>
          <p:cNvPr id="12" name="Rounded Rectangle 11"/>
          <p:cNvSpPr/>
          <p:nvPr/>
        </p:nvSpPr>
        <p:spPr>
          <a:xfrm>
            <a:off x="6217920" y="1874519"/>
            <a:ext cx="5550408"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874519"/>
            <a:ext cx="91440" cy="841248"/>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73952" y="2075687"/>
            <a:ext cx="457200" cy="45720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121407"/>
            <a:ext cx="457200" cy="36576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FFFFFF"/>
                </a:solidFill>
                <a:latin typeface="Calibri"/>
              </a:rPr>
              <a:t>2</a:t>
            </a:r>
          </a:p>
        </p:txBody>
      </p:sp>
      <p:sp>
        <p:nvSpPr>
          <p:cNvPr id="16" name="TextBox 15"/>
          <p:cNvSpPr txBox="1"/>
          <p:nvPr/>
        </p:nvSpPr>
        <p:spPr>
          <a:xfrm>
            <a:off x="7086600" y="1993391"/>
            <a:ext cx="4544568" cy="365760"/>
          </a:xfrm>
          <a:prstGeom prst="rect">
            <a:avLst/>
          </a:prstGeom>
          <a:noFill/>
        </p:spPr>
        <p:txBody>
          <a:bodyPr wrap="square" lIns="45720" rIns="45720" tIns="18288" bIns="18288" anchor="t">
            <a:spAutoFit/>
          </a:bodyPr>
          <a:lstStyle/>
          <a:p>
            <a:pPr algn="l">
              <a:lnSpc>
                <a:spcPct val="100000"/>
              </a:lnSpc>
              <a:spcAft>
                <a:spcPts val="0"/>
              </a:spcAft>
            </a:pPr>
            <a:r>
              <a:rPr sz="1400" b="1" i="0">
                <a:solidFill>
                  <a:srgbClr val="1A2B5E"/>
                </a:solidFill>
                <a:latin typeface="Calibri"/>
              </a:rPr>
              <a:t>AI provider selector</a:t>
            </a:r>
          </a:p>
        </p:txBody>
      </p:sp>
      <p:sp>
        <p:nvSpPr>
          <p:cNvPr id="17" name="TextBox 16"/>
          <p:cNvSpPr txBox="1"/>
          <p:nvPr/>
        </p:nvSpPr>
        <p:spPr>
          <a:xfrm>
            <a:off x="7086600" y="2285999"/>
            <a:ext cx="4544568" cy="457200"/>
          </a:xfrm>
          <a:prstGeom prst="rect">
            <a:avLst/>
          </a:prstGeom>
          <a:noFill/>
        </p:spPr>
        <p:txBody>
          <a:bodyPr wrap="square" lIns="45720" rIns="45720" tIns="18288" bIns="18288" anchor="t">
            <a:spAutoFit/>
          </a:bodyPr>
          <a:lstStyle/>
          <a:p>
            <a:pPr algn="l">
              <a:lnSpc>
                <a:spcPct val="120000"/>
              </a:lnSpc>
              <a:spcAft>
                <a:spcPts val="0"/>
              </a:spcAft>
            </a:pPr>
            <a:r>
              <a:rPr sz="1100" b="0" i="0">
                <a:solidFill>
                  <a:srgbClr val="4B5563"/>
                </a:solidFill>
                <a:latin typeface="Calibri"/>
              </a:rPr>
              <a:t>User chooses between OpenAI and Google Gemini APIs</a:t>
            </a:r>
          </a:p>
        </p:txBody>
      </p:sp>
      <p:sp>
        <p:nvSpPr>
          <p:cNvPr id="18" name="Rounded Rectangle 17"/>
          <p:cNvSpPr/>
          <p:nvPr/>
        </p:nvSpPr>
        <p:spPr>
          <a:xfrm>
            <a:off x="548640" y="2834639"/>
            <a:ext cx="5550408"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834639"/>
            <a:ext cx="91440" cy="841248"/>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04672" y="3035807"/>
            <a:ext cx="457200" cy="45720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3081527"/>
            <a:ext cx="457200" cy="36576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FFFFFF"/>
                </a:solidFill>
                <a:latin typeface="Calibri"/>
              </a:rPr>
              <a:t>3</a:t>
            </a:r>
          </a:p>
        </p:txBody>
      </p:sp>
      <p:sp>
        <p:nvSpPr>
          <p:cNvPr id="22" name="TextBox 21"/>
          <p:cNvSpPr txBox="1"/>
          <p:nvPr/>
        </p:nvSpPr>
        <p:spPr>
          <a:xfrm>
            <a:off x="1417320" y="2953511"/>
            <a:ext cx="4544568" cy="365760"/>
          </a:xfrm>
          <a:prstGeom prst="rect">
            <a:avLst/>
          </a:prstGeom>
          <a:noFill/>
        </p:spPr>
        <p:txBody>
          <a:bodyPr wrap="square" lIns="45720" rIns="45720" tIns="18288" bIns="18288" anchor="t">
            <a:spAutoFit/>
          </a:bodyPr>
          <a:lstStyle/>
          <a:p>
            <a:pPr algn="l">
              <a:lnSpc>
                <a:spcPct val="100000"/>
              </a:lnSpc>
              <a:spcAft>
                <a:spcPts val="0"/>
              </a:spcAft>
            </a:pPr>
            <a:r>
              <a:rPr sz="1400" b="1" i="0">
                <a:solidFill>
                  <a:srgbClr val="1A2B5E"/>
                </a:solidFill>
                <a:latin typeface="Calibri"/>
              </a:rPr>
              <a:t>Model selector</a:t>
            </a:r>
          </a:p>
        </p:txBody>
      </p:sp>
      <p:sp>
        <p:nvSpPr>
          <p:cNvPr id="23" name="TextBox 22"/>
          <p:cNvSpPr txBox="1"/>
          <p:nvPr/>
        </p:nvSpPr>
        <p:spPr>
          <a:xfrm>
            <a:off x="1417320" y="3246119"/>
            <a:ext cx="4544568" cy="457200"/>
          </a:xfrm>
          <a:prstGeom prst="rect">
            <a:avLst/>
          </a:prstGeom>
          <a:noFill/>
        </p:spPr>
        <p:txBody>
          <a:bodyPr wrap="square" lIns="45720" rIns="45720" tIns="18288" bIns="18288" anchor="t">
            <a:spAutoFit/>
          </a:bodyPr>
          <a:lstStyle/>
          <a:p>
            <a:pPr algn="l">
              <a:lnSpc>
                <a:spcPct val="120000"/>
              </a:lnSpc>
              <a:spcAft>
                <a:spcPts val="0"/>
              </a:spcAft>
            </a:pPr>
            <a:r>
              <a:rPr sz="1100" b="0" i="0">
                <a:solidFill>
                  <a:srgbClr val="4B5563"/>
                </a:solidFill>
                <a:latin typeface="Calibri"/>
              </a:rPr>
              <a:t>Show only models appropriate for the task</a:t>
            </a:r>
          </a:p>
        </p:txBody>
      </p:sp>
      <p:sp>
        <p:nvSpPr>
          <p:cNvPr id="24" name="Rounded Rectangle 23"/>
          <p:cNvSpPr/>
          <p:nvPr/>
        </p:nvSpPr>
        <p:spPr>
          <a:xfrm>
            <a:off x="6217920" y="2834639"/>
            <a:ext cx="5550408"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2834639"/>
            <a:ext cx="91440" cy="841248"/>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473952" y="3035807"/>
            <a:ext cx="457200" cy="45720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3081527"/>
            <a:ext cx="457200" cy="36576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FFFFFF"/>
                </a:solidFill>
                <a:latin typeface="Calibri"/>
              </a:rPr>
              <a:t>4</a:t>
            </a:r>
          </a:p>
        </p:txBody>
      </p:sp>
      <p:sp>
        <p:nvSpPr>
          <p:cNvPr id="28" name="TextBox 27"/>
          <p:cNvSpPr txBox="1"/>
          <p:nvPr/>
        </p:nvSpPr>
        <p:spPr>
          <a:xfrm>
            <a:off x="7086600" y="2953511"/>
            <a:ext cx="4544568" cy="365760"/>
          </a:xfrm>
          <a:prstGeom prst="rect">
            <a:avLst/>
          </a:prstGeom>
          <a:noFill/>
        </p:spPr>
        <p:txBody>
          <a:bodyPr wrap="square" lIns="45720" rIns="45720" tIns="18288" bIns="18288" anchor="t">
            <a:spAutoFit/>
          </a:bodyPr>
          <a:lstStyle/>
          <a:p>
            <a:pPr algn="l">
              <a:lnSpc>
                <a:spcPct val="100000"/>
              </a:lnSpc>
              <a:spcAft>
                <a:spcPts val="0"/>
              </a:spcAft>
            </a:pPr>
            <a:r>
              <a:rPr sz="1400" b="1" i="0">
                <a:solidFill>
                  <a:srgbClr val="1A2B5E"/>
                </a:solidFill>
                <a:latin typeface="Calibri"/>
              </a:rPr>
              <a:t>API key field</a:t>
            </a:r>
          </a:p>
        </p:txBody>
      </p:sp>
      <p:sp>
        <p:nvSpPr>
          <p:cNvPr id="29" name="TextBox 28"/>
          <p:cNvSpPr txBox="1"/>
          <p:nvPr/>
        </p:nvSpPr>
        <p:spPr>
          <a:xfrm>
            <a:off x="7086600" y="3246119"/>
            <a:ext cx="4544568" cy="457200"/>
          </a:xfrm>
          <a:prstGeom prst="rect">
            <a:avLst/>
          </a:prstGeom>
          <a:noFill/>
        </p:spPr>
        <p:txBody>
          <a:bodyPr wrap="square" lIns="45720" rIns="45720" tIns="18288" bIns="18288" anchor="t">
            <a:spAutoFit/>
          </a:bodyPr>
          <a:lstStyle/>
          <a:p>
            <a:pPr algn="l">
              <a:lnSpc>
                <a:spcPct val="120000"/>
              </a:lnSpc>
              <a:spcAft>
                <a:spcPts val="0"/>
              </a:spcAft>
            </a:pPr>
            <a:r>
              <a:rPr sz="1100" b="0" i="0">
                <a:solidFill>
                  <a:srgbClr val="4B5563"/>
                </a:solidFill>
                <a:latin typeface="Calibri"/>
              </a:rPr>
              <a:t>Allow the user to enter their own API key</a:t>
            </a:r>
          </a:p>
        </p:txBody>
      </p:sp>
      <p:sp>
        <p:nvSpPr>
          <p:cNvPr id="30" name="Rounded Rectangle 29"/>
          <p:cNvSpPr/>
          <p:nvPr/>
        </p:nvSpPr>
        <p:spPr>
          <a:xfrm>
            <a:off x="548640" y="3794759"/>
            <a:ext cx="5550408"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3794759"/>
            <a:ext cx="91440" cy="841248"/>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04672" y="3995927"/>
            <a:ext cx="457200" cy="45720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041647"/>
            <a:ext cx="457200" cy="36576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FFFFFF"/>
                </a:solidFill>
                <a:latin typeface="Calibri"/>
              </a:rPr>
              <a:t>5</a:t>
            </a:r>
          </a:p>
        </p:txBody>
      </p:sp>
      <p:sp>
        <p:nvSpPr>
          <p:cNvPr id="34" name="TextBox 33"/>
          <p:cNvSpPr txBox="1"/>
          <p:nvPr/>
        </p:nvSpPr>
        <p:spPr>
          <a:xfrm>
            <a:off x="1417320" y="3913631"/>
            <a:ext cx="4544568" cy="365760"/>
          </a:xfrm>
          <a:prstGeom prst="rect">
            <a:avLst/>
          </a:prstGeom>
          <a:noFill/>
        </p:spPr>
        <p:txBody>
          <a:bodyPr wrap="square" lIns="45720" rIns="45720" tIns="18288" bIns="18288" anchor="t">
            <a:spAutoFit/>
          </a:bodyPr>
          <a:lstStyle/>
          <a:p>
            <a:pPr algn="l">
              <a:lnSpc>
                <a:spcPct val="100000"/>
              </a:lnSpc>
              <a:spcAft>
                <a:spcPts val="0"/>
              </a:spcAft>
            </a:pPr>
            <a:r>
              <a:rPr sz="1400" b="1" i="0">
                <a:solidFill>
                  <a:srgbClr val="1A2B5E"/>
                </a:solidFill>
                <a:latin typeface="Calibri"/>
              </a:rPr>
              <a:t>PDF upload</a:t>
            </a:r>
          </a:p>
        </p:txBody>
      </p:sp>
      <p:sp>
        <p:nvSpPr>
          <p:cNvPr id="35" name="TextBox 34"/>
          <p:cNvSpPr txBox="1"/>
          <p:nvPr/>
        </p:nvSpPr>
        <p:spPr>
          <a:xfrm>
            <a:off x="1417320" y="4206239"/>
            <a:ext cx="4544568" cy="457200"/>
          </a:xfrm>
          <a:prstGeom prst="rect">
            <a:avLst/>
          </a:prstGeom>
          <a:noFill/>
        </p:spPr>
        <p:txBody>
          <a:bodyPr wrap="square" lIns="45720" rIns="45720" tIns="18288" bIns="18288" anchor="t">
            <a:spAutoFit/>
          </a:bodyPr>
          <a:lstStyle/>
          <a:p>
            <a:pPr algn="l">
              <a:lnSpc>
                <a:spcPct val="120000"/>
              </a:lnSpc>
              <a:spcAft>
                <a:spcPts val="0"/>
              </a:spcAft>
            </a:pPr>
            <a:r>
              <a:rPr sz="1100" b="0" i="0">
                <a:solidFill>
                  <a:srgbClr val="4B5563"/>
                </a:solidFill>
                <a:latin typeface="Calibri"/>
              </a:rPr>
              <a:t>Drag-and-drop file upload widget</a:t>
            </a:r>
          </a:p>
        </p:txBody>
      </p:sp>
      <p:sp>
        <p:nvSpPr>
          <p:cNvPr id="36" name="Rounded Rectangle 35"/>
          <p:cNvSpPr/>
          <p:nvPr/>
        </p:nvSpPr>
        <p:spPr>
          <a:xfrm>
            <a:off x="6217920" y="3794759"/>
            <a:ext cx="5550408"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17920" y="3794759"/>
            <a:ext cx="91440" cy="841248"/>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73952" y="3995927"/>
            <a:ext cx="457200" cy="45720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73952" y="4041647"/>
            <a:ext cx="457200" cy="36576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FFFFFF"/>
                </a:solidFill>
                <a:latin typeface="Calibri"/>
              </a:rPr>
              <a:t>6</a:t>
            </a:r>
          </a:p>
        </p:txBody>
      </p:sp>
      <p:sp>
        <p:nvSpPr>
          <p:cNvPr id="40" name="TextBox 39"/>
          <p:cNvSpPr txBox="1"/>
          <p:nvPr/>
        </p:nvSpPr>
        <p:spPr>
          <a:xfrm>
            <a:off x="7086600" y="3913631"/>
            <a:ext cx="4544568" cy="365760"/>
          </a:xfrm>
          <a:prstGeom prst="rect">
            <a:avLst/>
          </a:prstGeom>
          <a:noFill/>
        </p:spPr>
        <p:txBody>
          <a:bodyPr wrap="square" lIns="45720" rIns="45720" tIns="18288" bIns="18288" anchor="t">
            <a:spAutoFit/>
          </a:bodyPr>
          <a:lstStyle/>
          <a:p>
            <a:pPr algn="l">
              <a:lnSpc>
                <a:spcPct val="100000"/>
              </a:lnSpc>
              <a:spcAft>
                <a:spcPts val="0"/>
              </a:spcAft>
            </a:pPr>
            <a:r>
              <a:rPr sz="1400" b="1" i="0">
                <a:solidFill>
                  <a:srgbClr val="1A2B5E"/>
                </a:solidFill>
                <a:latin typeface="Calibri"/>
              </a:rPr>
              <a:t>Chat interface</a:t>
            </a:r>
          </a:p>
        </p:txBody>
      </p:sp>
      <p:sp>
        <p:nvSpPr>
          <p:cNvPr id="41" name="TextBox 40"/>
          <p:cNvSpPr txBox="1"/>
          <p:nvPr/>
        </p:nvSpPr>
        <p:spPr>
          <a:xfrm>
            <a:off x="7086600" y="4206239"/>
            <a:ext cx="4544568" cy="457200"/>
          </a:xfrm>
          <a:prstGeom prst="rect">
            <a:avLst/>
          </a:prstGeom>
          <a:noFill/>
        </p:spPr>
        <p:txBody>
          <a:bodyPr wrap="square" lIns="45720" rIns="45720" tIns="18288" bIns="18288" anchor="t">
            <a:spAutoFit/>
          </a:bodyPr>
          <a:lstStyle/>
          <a:p>
            <a:pPr algn="l">
              <a:lnSpc>
                <a:spcPct val="120000"/>
              </a:lnSpc>
              <a:spcAft>
                <a:spcPts val="0"/>
              </a:spcAft>
            </a:pPr>
            <a:r>
              <a:rPr sz="1100" b="0" i="0">
                <a:solidFill>
                  <a:srgbClr val="4B5563"/>
                </a:solidFill>
                <a:latin typeface="Calibri"/>
              </a:rPr>
              <a:t>Conversation UI with a pre-filled default prompt</a:t>
            </a:r>
          </a:p>
        </p:txBody>
      </p:sp>
      <p:sp>
        <p:nvSpPr>
          <p:cNvPr id="42" name="Rounded Rectangle 41"/>
          <p:cNvSpPr/>
          <p:nvPr/>
        </p:nvSpPr>
        <p:spPr>
          <a:xfrm>
            <a:off x="548640" y="4754879"/>
            <a:ext cx="5550408"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4754879"/>
            <a:ext cx="91440" cy="841248"/>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804672" y="4956047"/>
            <a:ext cx="457200" cy="45720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5001767"/>
            <a:ext cx="457200" cy="36576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FFFFFF"/>
                </a:solidFill>
                <a:latin typeface="Calibri"/>
              </a:rPr>
              <a:t>7</a:t>
            </a:r>
          </a:p>
        </p:txBody>
      </p:sp>
      <p:sp>
        <p:nvSpPr>
          <p:cNvPr id="46" name="TextBox 45"/>
          <p:cNvSpPr txBox="1"/>
          <p:nvPr/>
        </p:nvSpPr>
        <p:spPr>
          <a:xfrm>
            <a:off x="1417320" y="4873751"/>
            <a:ext cx="4544568" cy="365760"/>
          </a:xfrm>
          <a:prstGeom prst="rect">
            <a:avLst/>
          </a:prstGeom>
          <a:noFill/>
        </p:spPr>
        <p:txBody>
          <a:bodyPr wrap="square" lIns="45720" rIns="45720" tIns="18288" bIns="18288" anchor="t">
            <a:spAutoFit/>
          </a:bodyPr>
          <a:lstStyle/>
          <a:p>
            <a:pPr algn="l">
              <a:lnSpc>
                <a:spcPct val="100000"/>
              </a:lnSpc>
              <a:spcAft>
                <a:spcPts val="0"/>
              </a:spcAft>
            </a:pPr>
            <a:r>
              <a:rPr sz="1400" b="1" i="0">
                <a:solidFill>
                  <a:srgbClr val="1A2B5E"/>
                </a:solidFill>
                <a:latin typeface="Calibri"/>
              </a:rPr>
              <a:t>Default prompt</a:t>
            </a:r>
          </a:p>
        </p:txBody>
      </p:sp>
      <p:sp>
        <p:nvSpPr>
          <p:cNvPr id="47" name="TextBox 46"/>
          <p:cNvSpPr txBox="1"/>
          <p:nvPr/>
        </p:nvSpPr>
        <p:spPr>
          <a:xfrm>
            <a:off x="1417320" y="5166359"/>
            <a:ext cx="4544568" cy="457200"/>
          </a:xfrm>
          <a:prstGeom prst="rect">
            <a:avLst/>
          </a:prstGeom>
          <a:noFill/>
        </p:spPr>
        <p:txBody>
          <a:bodyPr wrap="square" lIns="45720" rIns="45720" tIns="18288" bIns="18288" anchor="t">
            <a:spAutoFit/>
          </a:bodyPr>
          <a:lstStyle/>
          <a:p>
            <a:pPr algn="l">
              <a:lnSpc>
                <a:spcPct val="120000"/>
              </a:lnSpc>
              <a:spcAft>
                <a:spcPts val="0"/>
              </a:spcAft>
            </a:pPr>
            <a:r>
              <a:rPr sz="1100" b="0" i="0">
                <a:solidFill>
                  <a:srgbClr val="4B5563"/>
                </a:solidFill>
                <a:latin typeface="Calibri"/>
              </a:rPr>
              <a:t>Marketing-oriented summary of veterinary diagnostic tests</a:t>
            </a:r>
          </a:p>
        </p:txBody>
      </p:sp>
      <p:sp>
        <p:nvSpPr>
          <p:cNvPr id="48" name="Rounded Rectangle 47"/>
          <p:cNvSpPr/>
          <p:nvPr/>
        </p:nvSpPr>
        <p:spPr>
          <a:xfrm>
            <a:off x="6217920" y="4754879"/>
            <a:ext cx="5550408"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17920" y="4754879"/>
            <a:ext cx="91440" cy="841248"/>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6473952" y="4956047"/>
            <a:ext cx="457200" cy="45720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73952" y="5001767"/>
            <a:ext cx="457200" cy="36576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FFFFFF"/>
                </a:solidFill>
                <a:latin typeface="Calibri"/>
              </a:rPr>
              <a:t>8</a:t>
            </a:r>
          </a:p>
        </p:txBody>
      </p:sp>
      <p:sp>
        <p:nvSpPr>
          <p:cNvPr id="52" name="TextBox 51"/>
          <p:cNvSpPr txBox="1"/>
          <p:nvPr/>
        </p:nvSpPr>
        <p:spPr>
          <a:xfrm>
            <a:off x="7086600" y="4873751"/>
            <a:ext cx="4544568" cy="365760"/>
          </a:xfrm>
          <a:prstGeom prst="rect">
            <a:avLst/>
          </a:prstGeom>
          <a:noFill/>
        </p:spPr>
        <p:txBody>
          <a:bodyPr wrap="square" lIns="45720" rIns="45720" tIns="18288" bIns="18288" anchor="t">
            <a:spAutoFit/>
          </a:bodyPr>
          <a:lstStyle/>
          <a:p>
            <a:pPr algn="l">
              <a:lnSpc>
                <a:spcPct val="100000"/>
              </a:lnSpc>
              <a:spcAft>
                <a:spcPts val="0"/>
              </a:spcAft>
            </a:pPr>
            <a:r>
              <a:rPr sz="1400" b="1" i="0">
                <a:solidFill>
                  <a:srgbClr val="1A2B5E"/>
                </a:solidFill>
                <a:latin typeface="Calibri"/>
              </a:rPr>
              <a:t>Document context</a:t>
            </a:r>
          </a:p>
        </p:txBody>
      </p:sp>
      <p:sp>
        <p:nvSpPr>
          <p:cNvPr id="53" name="TextBox 52"/>
          <p:cNvSpPr txBox="1"/>
          <p:nvPr/>
        </p:nvSpPr>
        <p:spPr>
          <a:xfrm>
            <a:off x="7086600" y="5166359"/>
            <a:ext cx="4544568" cy="457200"/>
          </a:xfrm>
          <a:prstGeom prst="rect">
            <a:avLst/>
          </a:prstGeom>
          <a:noFill/>
        </p:spPr>
        <p:txBody>
          <a:bodyPr wrap="square" lIns="45720" rIns="45720" tIns="18288" bIns="18288" anchor="t">
            <a:spAutoFit/>
          </a:bodyPr>
          <a:lstStyle/>
          <a:p>
            <a:pPr algn="l">
              <a:lnSpc>
                <a:spcPct val="120000"/>
              </a:lnSpc>
              <a:spcAft>
                <a:spcPts val="0"/>
              </a:spcAft>
            </a:pPr>
            <a:r>
              <a:rPr sz="1100" b="0" i="0">
                <a:solidFill>
                  <a:srgbClr val="4B5563"/>
                </a:solidFill>
                <a:latin typeface="Calibri"/>
              </a:rPr>
              <a:t>PDF stays in conversation for follow-ups — no database</a:t>
            </a:r>
          </a:p>
        </p:txBody>
      </p:sp>
      <p:sp>
        <p:nvSpPr>
          <p:cNvPr id="54" name="Rounded Rectangle 53"/>
          <p:cNvSpPr/>
          <p:nvPr/>
        </p:nvSpPr>
        <p:spPr>
          <a:xfrm>
            <a:off x="548640" y="5852160"/>
            <a:ext cx="11091672" cy="457200"/>
          </a:xfrm>
          <a:prstGeom prst="roundRect">
            <a:avLst>
              <a:gd name="adj" fmla="val 6000"/>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7240" y="5925312"/>
            <a:ext cx="10607040" cy="329184"/>
          </a:xfrm>
          <a:prstGeom prst="rect">
            <a:avLst/>
          </a:prstGeom>
          <a:noFill/>
        </p:spPr>
        <p:txBody>
          <a:bodyPr wrap="square" lIns="45720" rIns="45720" tIns="18288" bIns="18288" anchor="t">
            <a:spAutoFit/>
          </a:bodyPr>
          <a:lstStyle/>
          <a:p>
            <a:pPr algn="l">
              <a:lnSpc>
                <a:spcPct val="115000"/>
              </a:lnSpc>
              <a:spcAft>
                <a:spcPts val="400"/>
              </a:spcAft>
            </a:pPr>
            <a:r>
              <a:rPr sz="1300" b="1" i="1">
                <a:solidFill>
                  <a:srgbClr val="121E42"/>
                </a:solidFill>
                <a:latin typeface="Calibri"/>
              </a:rPr>
              <a:t>The quality of this initial prompt directly determined the quality of what came back. Vague in = vague out.</a:t>
            </a:r>
          </a:p>
        </p:txBody>
      </p:sp>
      <p:sp>
        <p:nvSpPr>
          <p:cNvPr id="56" name="Rectangle 55"/>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58" name="TextBox 57"/>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STEP 2</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Let the AI Clarify Before It Codes</a:t>
            </a:r>
          </a:p>
        </p:txBody>
      </p:sp>
      <p:sp>
        <p:nvSpPr>
          <p:cNvPr id="5" name="TextBox 4"/>
          <p:cNvSpPr txBox="1"/>
          <p:nvPr/>
        </p:nvSpPr>
        <p:spPr>
          <a:xfrm>
            <a:off x="548640" y="1417320"/>
            <a:ext cx="10972800" cy="411480"/>
          </a:xfrm>
          <a:prstGeom prst="rect">
            <a:avLst/>
          </a:prstGeom>
          <a:noFill/>
        </p:spPr>
        <p:txBody>
          <a:bodyPr wrap="square" lIns="45720" rIns="45720" tIns="18288" bIns="18288" anchor="t">
            <a:spAutoFit/>
          </a:bodyPr>
          <a:lstStyle/>
          <a:p>
            <a:pPr algn="l">
              <a:lnSpc>
                <a:spcPct val="115000"/>
              </a:lnSpc>
              <a:spcAft>
                <a:spcPts val="400"/>
              </a:spcAft>
            </a:pPr>
            <a:r>
              <a:rPr sz="1400" b="0" i="1">
                <a:solidFill>
                  <a:srgbClr val="4B5563"/>
                </a:solidFill>
                <a:latin typeface="Calibri"/>
              </a:rPr>
              <a:t>Before writing a single line of code, Claude Code asked six clarifying questions.</a:t>
            </a:r>
          </a:p>
        </p:txBody>
      </p:sp>
      <p:sp>
        <p:nvSpPr>
          <p:cNvPr id="6" name="Rounded Rectangle 5"/>
          <p:cNvSpPr/>
          <p:nvPr/>
        </p:nvSpPr>
        <p:spPr>
          <a:xfrm>
            <a:off x="548640" y="1965960"/>
            <a:ext cx="11091672" cy="50292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57400"/>
            <a:ext cx="5943600" cy="365760"/>
          </a:xfrm>
          <a:prstGeom prst="rect">
            <a:avLst/>
          </a:prstGeom>
          <a:noFill/>
        </p:spPr>
        <p:txBody>
          <a:bodyPr wrap="square" lIns="45720" rIns="45720" tIns="18288" bIns="18288" anchor="t">
            <a:spAutoFit/>
          </a:bodyPr>
          <a:lstStyle/>
          <a:p>
            <a:pPr algn="l">
              <a:lnSpc>
                <a:spcPct val="115000"/>
              </a:lnSpc>
              <a:spcAft>
                <a:spcPts val="400"/>
              </a:spcAft>
            </a:pPr>
            <a:r>
              <a:rPr sz="1200" b="1" i="0">
                <a:solidFill>
                  <a:srgbClr val="FFFFFF"/>
                </a:solidFill>
                <a:latin typeface="Calibri"/>
              </a:rPr>
              <a:t>QUESTION ASKED</a:t>
            </a:r>
          </a:p>
        </p:txBody>
      </p:sp>
      <p:sp>
        <p:nvSpPr>
          <p:cNvPr id="8" name="TextBox 7"/>
          <p:cNvSpPr txBox="1"/>
          <p:nvPr/>
        </p:nvSpPr>
        <p:spPr>
          <a:xfrm>
            <a:off x="6812280" y="2057400"/>
            <a:ext cx="4754880" cy="365760"/>
          </a:xfrm>
          <a:prstGeom prst="rect">
            <a:avLst/>
          </a:prstGeom>
          <a:noFill/>
        </p:spPr>
        <p:txBody>
          <a:bodyPr wrap="square" lIns="45720" rIns="45720" tIns="18288" bIns="18288" anchor="t">
            <a:spAutoFit/>
          </a:bodyPr>
          <a:lstStyle/>
          <a:p>
            <a:pPr algn="l">
              <a:lnSpc>
                <a:spcPct val="115000"/>
              </a:lnSpc>
              <a:spcAft>
                <a:spcPts val="400"/>
              </a:spcAft>
            </a:pPr>
            <a:r>
              <a:rPr sz="1200" b="1" i="0">
                <a:solidFill>
                  <a:srgbClr val="FFFFFF"/>
                </a:solidFill>
                <a:latin typeface="Calibri"/>
              </a:rPr>
              <a:t>WHY IT MATTERED</a:t>
            </a:r>
          </a:p>
        </p:txBody>
      </p:sp>
      <p:sp>
        <p:nvSpPr>
          <p:cNvPr id="9" name="Rectangle 8"/>
          <p:cNvSpPr/>
          <p:nvPr/>
        </p:nvSpPr>
        <p:spPr>
          <a:xfrm>
            <a:off x="548640" y="2468880"/>
            <a:ext cx="11091672"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13232" y="2587752"/>
            <a:ext cx="274320" cy="274320"/>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615184"/>
            <a:ext cx="274320" cy="274320"/>
          </a:xfrm>
          <a:prstGeom prst="rect">
            <a:avLst/>
          </a:prstGeom>
          <a:noFill/>
        </p:spPr>
        <p:txBody>
          <a:bodyPr wrap="square" lIns="45720" rIns="45720" tIns="18288" bIns="18288" anchor="t">
            <a:spAutoFit/>
          </a:bodyPr>
          <a:lstStyle/>
          <a:p>
            <a:pPr algn="ctr">
              <a:lnSpc>
                <a:spcPct val="115000"/>
              </a:lnSpc>
              <a:spcAft>
                <a:spcPts val="400"/>
              </a:spcAft>
            </a:pPr>
            <a:r>
              <a:rPr sz="1000" b="1" i="0">
                <a:solidFill>
                  <a:srgbClr val="121E42"/>
                </a:solidFill>
                <a:latin typeface="Calibri"/>
              </a:rPr>
              <a:t>1</a:t>
            </a:r>
          </a:p>
        </p:txBody>
      </p:sp>
      <p:sp>
        <p:nvSpPr>
          <p:cNvPr id="12" name="TextBox 11"/>
          <p:cNvSpPr txBox="1"/>
          <p:nvPr/>
        </p:nvSpPr>
        <p:spPr>
          <a:xfrm>
            <a:off x="1097280" y="2587752"/>
            <a:ext cx="5623560" cy="502920"/>
          </a:xfrm>
          <a:prstGeom prst="rect">
            <a:avLst/>
          </a:prstGeom>
          <a:noFill/>
        </p:spPr>
        <p:txBody>
          <a:bodyPr wrap="square" lIns="45720" rIns="45720" tIns="18288" bIns="18288" anchor="t">
            <a:spAutoFit/>
          </a:bodyPr>
          <a:lstStyle/>
          <a:p>
            <a:pPr algn="l">
              <a:lnSpc>
                <a:spcPct val="120000"/>
              </a:lnSpc>
              <a:spcAft>
                <a:spcPts val="400"/>
              </a:spcAft>
            </a:pPr>
            <a:r>
              <a:rPr sz="1200" b="0" i="0">
                <a:solidFill>
                  <a:srgbClr val="1F2937"/>
                </a:solidFill>
                <a:latin typeface="Calibri"/>
              </a:rPr>
              <a:t>Should the API key live in a config file or the UI?</a:t>
            </a:r>
          </a:p>
        </p:txBody>
      </p:sp>
      <p:sp>
        <p:nvSpPr>
          <p:cNvPr id="13" name="Rectangle 12"/>
          <p:cNvSpPr/>
          <p:nvPr/>
        </p:nvSpPr>
        <p:spPr>
          <a:xfrm>
            <a:off x="6720840" y="2514600"/>
            <a:ext cx="9144" cy="41148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12280" y="2587752"/>
            <a:ext cx="4754880" cy="502920"/>
          </a:xfrm>
          <a:prstGeom prst="rect">
            <a:avLst/>
          </a:prstGeom>
          <a:noFill/>
        </p:spPr>
        <p:txBody>
          <a:bodyPr wrap="square" lIns="45720" rIns="45720" tIns="18288" bIns="18288" anchor="t">
            <a:spAutoFit/>
          </a:bodyPr>
          <a:lstStyle/>
          <a:p>
            <a:pPr algn="l">
              <a:lnSpc>
                <a:spcPct val="120000"/>
              </a:lnSpc>
              <a:spcAft>
                <a:spcPts val="400"/>
              </a:spcAft>
            </a:pPr>
            <a:r>
              <a:rPr sz="1200" b="0" i="1">
                <a:solidFill>
                  <a:srgbClr val="4B5563"/>
                </a:solidFill>
                <a:latin typeface="Calibri"/>
              </a:rPr>
              <a:t>Security and user-experience trade-off</a:t>
            </a:r>
          </a:p>
        </p:txBody>
      </p:sp>
      <p:sp>
        <p:nvSpPr>
          <p:cNvPr id="15" name="Rectangle 14"/>
          <p:cNvSpPr/>
          <p:nvPr/>
        </p:nvSpPr>
        <p:spPr>
          <a:xfrm>
            <a:off x="548640" y="2971800"/>
            <a:ext cx="11091672"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3232" y="3090672"/>
            <a:ext cx="274320" cy="274320"/>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118104"/>
            <a:ext cx="274320" cy="274320"/>
          </a:xfrm>
          <a:prstGeom prst="rect">
            <a:avLst/>
          </a:prstGeom>
          <a:noFill/>
        </p:spPr>
        <p:txBody>
          <a:bodyPr wrap="square" lIns="45720" rIns="45720" tIns="18288" bIns="18288" anchor="t">
            <a:spAutoFit/>
          </a:bodyPr>
          <a:lstStyle/>
          <a:p>
            <a:pPr algn="ctr">
              <a:lnSpc>
                <a:spcPct val="115000"/>
              </a:lnSpc>
              <a:spcAft>
                <a:spcPts val="400"/>
              </a:spcAft>
            </a:pPr>
            <a:r>
              <a:rPr sz="1000" b="1" i="0">
                <a:solidFill>
                  <a:srgbClr val="121E42"/>
                </a:solidFill>
                <a:latin typeface="Calibri"/>
              </a:rPr>
              <a:t>2</a:t>
            </a:r>
          </a:p>
        </p:txBody>
      </p:sp>
      <p:sp>
        <p:nvSpPr>
          <p:cNvPr id="18" name="TextBox 17"/>
          <p:cNvSpPr txBox="1"/>
          <p:nvPr/>
        </p:nvSpPr>
        <p:spPr>
          <a:xfrm>
            <a:off x="1097280" y="3090672"/>
            <a:ext cx="5623560" cy="502920"/>
          </a:xfrm>
          <a:prstGeom prst="rect">
            <a:avLst/>
          </a:prstGeom>
          <a:noFill/>
        </p:spPr>
        <p:txBody>
          <a:bodyPr wrap="square" lIns="45720" rIns="45720" tIns="18288" bIns="18288" anchor="t">
            <a:spAutoFit/>
          </a:bodyPr>
          <a:lstStyle/>
          <a:p>
            <a:pPr algn="l">
              <a:lnSpc>
                <a:spcPct val="120000"/>
              </a:lnSpc>
              <a:spcAft>
                <a:spcPts val="400"/>
              </a:spcAft>
            </a:pPr>
            <a:r>
              <a:rPr sz="1200" b="0" i="0">
                <a:solidFill>
                  <a:srgbClr val="1F2937"/>
                </a:solidFill>
                <a:latin typeface="Calibri"/>
              </a:rPr>
              <a:t>Should the frontend call AI APIs directly, or through the backend?</a:t>
            </a:r>
          </a:p>
        </p:txBody>
      </p:sp>
      <p:sp>
        <p:nvSpPr>
          <p:cNvPr id="19" name="Rectangle 18"/>
          <p:cNvSpPr/>
          <p:nvPr/>
        </p:nvSpPr>
        <p:spPr>
          <a:xfrm>
            <a:off x="6720840" y="3017520"/>
            <a:ext cx="9144" cy="41148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12280" y="3090672"/>
            <a:ext cx="4754880" cy="502920"/>
          </a:xfrm>
          <a:prstGeom prst="rect">
            <a:avLst/>
          </a:prstGeom>
          <a:noFill/>
        </p:spPr>
        <p:txBody>
          <a:bodyPr wrap="square" lIns="45720" rIns="45720" tIns="18288" bIns="18288" anchor="t">
            <a:spAutoFit/>
          </a:bodyPr>
          <a:lstStyle/>
          <a:p>
            <a:pPr algn="l">
              <a:lnSpc>
                <a:spcPct val="120000"/>
              </a:lnSpc>
              <a:spcAft>
                <a:spcPts val="400"/>
              </a:spcAft>
            </a:pPr>
            <a:r>
              <a:rPr sz="1200" b="0" i="1">
                <a:solidFill>
                  <a:srgbClr val="4B5563"/>
                </a:solidFill>
                <a:latin typeface="Calibri"/>
              </a:rPr>
              <a:t>Architecture and corporate security policy</a:t>
            </a:r>
          </a:p>
        </p:txBody>
      </p:sp>
      <p:sp>
        <p:nvSpPr>
          <p:cNvPr id="21" name="Rectangle 20"/>
          <p:cNvSpPr/>
          <p:nvPr/>
        </p:nvSpPr>
        <p:spPr>
          <a:xfrm>
            <a:off x="548640" y="3474720"/>
            <a:ext cx="11091672"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713232" y="3593592"/>
            <a:ext cx="274320" cy="274320"/>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3621024"/>
            <a:ext cx="274320" cy="274320"/>
          </a:xfrm>
          <a:prstGeom prst="rect">
            <a:avLst/>
          </a:prstGeom>
          <a:noFill/>
        </p:spPr>
        <p:txBody>
          <a:bodyPr wrap="square" lIns="45720" rIns="45720" tIns="18288" bIns="18288" anchor="t">
            <a:spAutoFit/>
          </a:bodyPr>
          <a:lstStyle/>
          <a:p>
            <a:pPr algn="ctr">
              <a:lnSpc>
                <a:spcPct val="115000"/>
              </a:lnSpc>
              <a:spcAft>
                <a:spcPts val="400"/>
              </a:spcAft>
            </a:pPr>
            <a:r>
              <a:rPr sz="1000" b="1" i="0">
                <a:solidFill>
                  <a:srgbClr val="121E42"/>
                </a:solidFill>
                <a:latin typeface="Calibri"/>
              </a:rPr>
              <a:t>3</a:t>
            </a:r>
          </a:p>
        </p:txBody>
      </p:sp>
      <p:sp>
        <p:nvSpPr>
          <p:cNvPr id="24" name="TextBox 23"/>
          <p:cNvSpPr txBox="1"/>
          <p:nvPr/>
        </p:nvSpPr>
        <p:spPr>
          <a:xfrm>
            <a:off x="1097280" y="3593592"/>
            <a:ext cx="5623560" cy="502920"/>
          </a:xfrm>
          <a:prstGeom prst="rect">
            <a:avLst/>
          </a:prstGeom>
          <a:noFill/>
        </p:spPr>
        <p:txBody>
          <a:bodyPr wrap="square" lIns="45720" rIns="45720" tIns="18288" bIns="18288" anchor="t">
            <a:spAutoFit/>
          </a:bodyPr>
          <a:lstStyle/>
          <a:p>
            <a:pPr algn="l">
              <a:lnSpc>
                <a:spcPct val="120000"/>
              </a:lnSpc>
              <a:spcAft>
                <a:spcPts val="400"/>
              </a:spcAft>
            </a:pPr>
            <a:r>
              <a:rPr sz="1200" b="0" i="0">
                <a:solidFill>
                  <a:srgbClr val="1F2937"/>
                </a:solidFill>
                <a:latin typeface="Calibri"/>
              </a:rPr>
              <a:t>Is session persistence needed (database)?</a:t>
            </a:r>
          </a:p>
        </p:txBody>
      </p:sp>
      <p:sp>
        <p:nvSpPr>
          <p:cNvPr id="25" name="Rectangle 24"/>
          <p:cNvSpPr/>
          <p:nvPr/>
        </p:nvSpPr>
        <p:spPr>
          <a:xfrm>
            <a:off x="6720840" y="3520440"/>
            <a:ext cx="9144" cy="41148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12280" y="3593592"/>
            <a:ext cx="4754880" cy="502920"/>
          </a:xfrm>
          <a:prstGeom prst="rect">
            <a:avLst/>
          </a:prstGeom>
          <a:noFill/>
        </p:spPr>
        <p:txBody>
          <a:bodyPr wrap="square" lIns="45720" rIns="45720" tIns="18288" bIns="18288" anchor="t">
            <a:spAutoFit/>
          </a:bodyPr>
          <a:lstStyle/>
          <a:p>
            <a:pPr algn="l">
              <a:lnSpc>
                <a:spcPct val="120000"/>
              </a:lnSpc>
              <a:spcAft>
                <a:spcPts val="400"/>
              </a:spcAft>
            </a:pPr>
            <a:r>
              <a:rPr sz="1200" b="0" i="1">
                <a:solidFill>
                  <a:srgbClr val="4B5563"/>
                </a:solidFill>
                <a:latin typeface="Calibri"/>
              </a:rPr>
              <a:t>Scope and complexity decision</a:t>
            </a:r>
          </a:p>
        </p:txBody>
      </p:sp>
      <p:sp>
        <p:nvSpPr>
          <p:cNvPr id="27" name="Rectangle 26"/>
          <p:cNvSpPr/>
          <p:nvPr/>
        </p:nvSpPr>
        <p:spPr>
          <a:xfrm>
            <a:off x="548640" y="3977640"/>
            <a:ext cx="11091672"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13232" y="4096512"/>
            <a:ext cx="274320" cy="274320"/>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4123944"/>
            <a:ext cx="274320" cy="274320"/>
          </a:xfrm>
          <a:prstGeom prst="rect">
            <a:avLst/>
          </a:prstGeom>
          <a:noFill/>
        </p:spPr>
        <p:txBody>
          <a:bodyPr wrap="square" lIns="45720" rIns="45720" tIns="18288" bIns="18288" anchor="t">
            <a:spAutoFit/>
          </a:bodyPr>
          <a:lstStyle/>
          <a:p>
            <a:pPr algn="ctr">
              <a:lnSpc>
                <a:spcPct val="115000"/>
              </a:lnSpc>
              <a:spcAft>
                <a:spcPts val="400"/>
              </a:spcAft>
            </a:pPr>
            <a:r>
              <a:rPr sz="1000" b="1" i="0">
                <a:solidFill>
                  <a:srgbClr val="121E42"/>
                </a:solidFill>
                <a:latin typeface="Calibri"/>
              </a:rPr>
              <a:t>4</a:t>
            </a:r>
          </a:p>
        </p:txBody>
      </p:sp>
      <p:sp>
        <p:nvSpPr>
          <p:cNvPr id="30" name="TextBox 29"/>
          <p:cNvSpPr txBox="1"/>
          <p:nvPr/>
        </p:nvSpPr>
        <p:spPr>
          <a:xfrm>
            <a:off x="1097280" y="4096512"/>
            <a:ext cx="5623560" cy="502920"/>
          </a:xfrm>
          <a:prstGeom prst="rect">
            <a:avLst/>
          </a:prstGeom>
          <a:noFill/>
        </p:spPr>
        <p:txBody>
          <a:bodyPr wrap="square" lIns="45720" rIns="45720" tIns="18288" bIns="18288" anchor="t">
            <a:spAutoFit/>
          </a:bodyPr>
          <a:lstStyle/>
          <a:p>
            <a:pPr algn="l">
              <a:lnSpc>
                <a:spcPct val="120000"/>
              </a:lnSpc>
              <a:spcAft>
                <a:spcPts val="400"/>
              </a:spcAft>
            </a:pPr>
            <a:r>
              <a:rPr sz="1200" b="0" i="0">
                <a:solidFill>
                  <a:srgbClr val="1F2937"/>
                </a:solidFill>
                <a:latin typeface="Calibri"/>
              </a:rPr>
              <a:t>What telemetry should be captured?</a:t>
            </a:r>
          </a:p>
        </p:txBody>
      </p:sp>
      <p:sp>
        <p:nvSpPr>
          <p:cNvPr id="31" name="Rectangle 30"/>
          <p:cNvSpPr/>
          <p:nvPr/>
        </p:nvSpPr>
        <p:spPr>
          <a:xfrm>
            <a:off x="6720840" y="4023360"/>
            <a:ext cx="9144" cy="41148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12280" y="4096512"/>
            <a:ext cx="4754880" cy="502920"/>
          </a:xfrm>
          <a:prstGeom prst="rect">
            <a:avLst/>
          </a:prstGeom>
          <a:noFill/>
        </p:spPr>
        <p:txBody>
          <a:bodyPr wrap="square" lIns="45720" rIns="45720" tIns="18288" bIns="18288" anchor="t">
            <a:spAutoFit/>
          </a:bodyPr>
          <a:lstStyle/>
          <a:p>
            <a:pPr algn="l">
              <a:lnSpc>
                <a:spcPct val="120000"/>
              </a:lnSpc>
              <a:spcAft>
                <a:spcPts val="400"/>
              </a:spcAft>
            </a:pPr>
            <a:r>
              <a:rPr sz="1200" b="0" i="1">
                <a:solidFill>
                  <a:srgbClr val="4B5563"/>
                </a:solidFill>
                <a:latin typeface="Calibri"/>
              </a:rPr>
              <a:t>Clarified this was about the coding session, not the app</a:t>
            </a:r>
          </a:p>
        </p:txBody>
      </p:sp>
      <p:sp>
        <p:nvSpPr>
          <p:cNvPr id="33" name="Rectangle 32"/>
          <p:cNvSpPr/>
          <p:nvPr/>
        </p:nvSpPr>
        <p:spPr>
          <a:xfrm>
            <a:off x="548640" y="4480560"/>
            <a:ext cx="11091672" cy="502920"/>
          </a:xfrm>
          <a:prstGeom prst="rect">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13232" y="4599432"/>
            <a:ext cx="274320" cy="274320"/>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4626864"/>
            <a:ext cx="274320" cy="274320"/>
          </a:xfrm>
          <a:prstGeom prst="rect">
            <a:avLst/>
          </a:prstGeom>
          <a:noFill/>
        </p:spPr>
        <p:txBody>
          <a:bodyPr wrap="square" lIns="45720" rIns="45720" tIns="18288" bIns="18288" anchor="t">
            <a:spAutoFit/>
          </a:bodyPr>
          <a:lstStyle/>
          <a:p>
            <a:pPr algn="ctr">
              <a:lnSpc>
                <a:spcPct val="115000"/>
              </a:lnSpc>
              <a:spcAft>
                <a:spcPts val="400"/>
              </a:spcAft>
            </a:pPr>
            <a:r>
              <a:rPr sz="1000" b="1" i="0">
                <a:solidFill>
                  <a:srgbClr val="121E42"/>
                </a:solidFill>
                <a:latin typeface="Calibri"/>
              </a:rPr>
              <a:t>5</a:t>
            </a:r>
          </a:p>
        </p:txBody>
      </p:sp>
      <p:sp>
        <p:nvSpPr>
          <p:cNvPr id="36" name="TextBox 35"/>
          <p:cNvSpPr txBox="1"/>
          <p:nvPr/>
        </p:nvSpPr>
        <p:spPr>
          <a:xfrm>
            <a:off x="1097280" y="4599432"/>
            <a:ext cx="5623560" cy="502920"/>
          </a:xfrm>
          <a:prstGeom prst="rect">
            <a:avLst/>
          </a:prstGeom>
          <a:noFill/>
        </p:spPr>
        <p:txBody>
          <a:bodyPr wrap="square" lIns="45720" rIns="45720" tIns="18288" bIns="18288" anchor="t">
            <a:spAutoFit/>
          </a:bodyPr>
          <a:lstStyle/>
          <a:p>
            <a:pPr algn="l">
              <a:lnSpc>
                <a:spcPct val="120000"/>
              </a:lnSpc>
              <a:spcAft>
                <a:spcPts val="400"/>
              </a:spcAft>
            </a:pPr>
            <a:r>
              <a:rPr sz="1200" b="0" i="0">
                <a:solidFill>
                  <a:srgbClr val="1F2937"/>
                </a:solidFill>
                <a:latin typeface="Calibri"/>
              </a:rPr>
              <a:t>Which version of Angular?</a:t>
            </a:r>
          </a:p>
        </p:txBody>
      </p:sp>
      <p:sp>
        <p:nvSpPr>
          <p:cNvPr id="37" name="Rectangle 36"/>
          <p:cNvSpPr/>
          <p:nvPr/>
        </p:nvSpPr>
        <p:spPr>
          <a:xfrm>
            <a:off x="6720840" y="4526280"/>
            <a:ext cx="9144" cy="41148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812280" y="4599432"/>
            <a:ext cx="4754880" cy="502920"/>
          </a:xfrm>
          <a:prstGeom prst="rect">
            <a:avLst/>
          </a:prstGeom>
          <a:noFill/>
        </p:spPr>
        <p:txBody>
          <a:bodyPr wrap="square" lIns="45720" rIns="45720" tIns="18288" bIns="18288" anchor="t">
            <a:spAutoFit/>
          </a:bodyPr>
          <a:lstStyle/>
          <a:p>
            <a:pPr algn="l">
              <a:lnSpc>
                <a:spcPct val="120000"/>
              </a:lnSpc>
              <a:spcAft>
                <a:spcPts val="400"/>
              </a:spcAft>
            </a:pPr>
            <a:r>
              <a:rPr sz="1200" b="0" i="1">
                <a:solidFill>
                  <a:srgbClr val="4B5563"/>
                </a:solidFill>
                <a:latin typeface="Calibri"/>
              </a:rPr>
              <a:t>Confirmed latest (v19) to avoid version mismatch</a:t>
            </a:r>
          </a:p>
        </p:txBody>
      </p:sp>
      <p:sp>
        <p:nvSpPr>
          <p:cNvPr id="39" name="Rectangle 38"/>
          <p:cNvSpPr/>
          <p:nvPr/>
        </p:nvSpPr>
        <p:spPr>
          <a:xfrm>
            <a:off x="548640" y="4983480"/>
            <a:ext cx="11091672"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713232" y="5102352"/>
            <a:ext cx="274320" cy="274320"/>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5129784"/>
            <a:ext cx="274320" cy="274320"/>
          </a:xfrm>
          <a:prstGeom prst="rect">
            <a:avLst/>
          </a:prstGeom>
          <a:noFill/>
        </p:spPr>
        <p:txBody>
          <a:bodyPr wrap="square" lIns="45720" rIns="45720" tIns="18288" bIns="18288" anchor="t">
            <a:spAutoFit/>
          </a:bodyPr>
          <a:lstStyle/>
          <a:p>
            <a:pPr algn="ctr">
              <a:lnSpc>
                <a:spcPct val="115000"/>
              </a:lnSpc>
              <a:spcAft>
                <a:spcPts val="400"/>
              </a:spcAft>
            </a:pPr>
            <a:r>
              <a:rPr sz="1000" b="1" i="0">
                <a:solidFill>
                  <a:srgbClr val="121E42"/>
                </a:solidFill>
                <a:latin typeface="Calibri"/>
              </a:rPr>
              <a:t>6</a:t>
            </a:r>
          </a:p>
        </p:txBody>
      </p:sp>
      <p:sp>
        <p:nvSpPr>
          <p:cNvPr id="42" name="TextBox 41"/>
          <p:cNvSpPr txBox="1"/>
          <p:nvPr/>
        </p:nvSpPr>
        <p:spPr>
          <a:xfrm>
            <a:off x="1097280" y="5102352"/>
            <a:ext cx="5623560" cy="502920"/>
          </a:xfrm>
          <a:prstGeom prst="rect">
            <a:avLst/>
          </a:prstGeom>
          <a:noFill/>
        </p:spPr>
        <p:txBody>
          <a:bodyPr wrap="square" lIns="45720" rIns="45720" tIns="18288" bIns="18288" anchor="t">
            <a:spAutoFit/>
          </a:bodyPr>
          <a:lstStyle/>
          <a:p>
            <a:pPr algn="l">
              <a:lnSpc>
                <a:spcPct val="120000"/>
              </a:lnSpc>
              <a:spcAft>
                <a:spcPts val="400"/>
              </a:spcAft>
            </a:pPr>
            <a:r>
              <a:rPr sz="1200" b="0" i="0">
                <a:solidFill>
                  <a:srgbClr val="1F2937"/>
                </a:solidFill>
                <a:latin typeface="Calibri"/>
              </a:rPr>
              <a:t>Should the default prompt be written now or iterated later?</a:t>
            </a:r>
          </a:p>
        </p:txBody>
      </p:sp>
      <p:sp>
        <p:nvSpPr>
          <p:cNvPr id="43" name="Rectangle 42"/>
          <p:cNvSpPr/>
          <p:nvPr/>
        </p:nvSpPr>
        <p:spPr>
          <a:xfrm>
            <a:off x="6720840" y="5029200"/>
            <a:ext cx="9144" cy="41148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812280" y="5102352"/>
            <a:ext cx="4754880" cy="502920"/>
          </a:xfrm>
          <a:prstGeom prst="rect">
            <a:avLst/>
          </a:prstGeom>
          <a:noFill/>
        </p:spPr>
        <p:txBody>
          <a:bodyPr wrap="square" lIns="45720" rIns="45720" tIns="18288" bIns="18288" anchor="t">
            <a:spAutoFit/>
          </a:bodyPr>
          <a:lstStyle/>
          <a:p>
            <a:pPr algn="l">
              <a:lnSpc>
                <a:spcPct val="120000"/>
              </a:lnSpc>
              <a:spcAft>
                <a:spcPts val="400"/>
              </a:spcAft>
            </a:pPr>
            <a:r>
              <a:rPr sz="1200" b="0" i="1">
                <a:solidFill>
                  <a:srgbClr val="4B5563"/>
                </a:solidFill>
                <a:latin typeface="Calibri"/>
              </a:rPr>
              <a:t>Confirmed: write a solid first draft now</a:t>
            </a:r>
          </a:p>
        </p:txBody>
      </p:sp>
      <p:sp>
        <p:nvSpPr>
          <p:cNvPr id="45" name="Rounded Rectangle 44"/>
          <p:cNvSpPr/>
          <p:nvPr/>
        </p:nvSpPr>
        <p:spPr>
          <a:xfrm>
            <a:off x="548640" y="5852160"/>
            <a:ext cx="11091672" cy="45720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925312"/>
            <a:ext cx="10607040" cy="329184"/>
          </a:xfrm>
          <a:prstGeom prst="rect">
            <a:avLst/>
          </a:prstGeom>
          <a:noFill/>
        </p:spPr>
        <p:txBody>
          <a:bodyPr wrap="square" lIns="45720" rIns="45720" tIns="18288" bIns="18288" anchor="t">
            <a:spAutoFit/>
          </a:bodyPr>
          <a:lstStyle/>
          <a:p>
            <a:pPr algn="l">
              <a:lnSpc>
                <a:spcPct val="115000"/>
              </a:lnSpc>
              <a:spcAft>
                <a:spcPts val="400"/>
              </a:spcAft>
            </a:pPr>
            <a:r>
              <a:rPr sz="1300" b="1" i="1">
                <a:solidFill>
                  <a:srgbClr val="FFFFFF"/>
                </a:solidFill>
                <a:latin typeface="Calibri"/>
              </a:rPr>
              <a:t>Six questions. Six decisions made before any code was written. This is where architecture happens.</a:t>
            </a:r>
          </a:p>
        </p:txBody>
      </p:sp>
      <p:sp>
        <p:nvSpPr>
          <p:cNvPr id="47" name="Rectangle 46"/>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49" name="TextBox 48"/>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STEP 3</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Agree on the Blueprint</a:t>
            </a:r>
          </a:p>
        </p:txBody>
      </p:sp>
      <p:sp>
        <p:nvSpPr>
          <p:cNvPr id="5" name="TextBox 4"/>
          <p:cNvSpPr txBox="1"/>
          <p:nvPr/>
        </p:nvSpPr>
        <p:spPr>
          <a:xfrm>
            <a:off x="548640" y="1417320"/>
            <a:ext cx="10972800" cy="411480"/>
          </a:xfrm>
          <a:prstGeom prst="rect">
            <a:avLst/>
          </a:prstGeom>
          <a:noFill/>
        </p:spPr>
        <p:txBody>
          <a:bodyPr wrap="square" lIns="45720" rIns="45720" tIns="18288" bIns="18288" anchor="t">
            <a:spAutoFit/>
          </a:bodyPr>
          <a:lstStyle/>
          <a:p>
            <a:pPr algn="l">
              <a:lnSpc>
                <a:spcPct val="115000"/>
              </a:lnSpc>
              <a:spcAft>
                <a:spcPts val="400"/>
              </a:spcAft>
            </a:pPr>
            <a:r>
              <a:rPr sz="1300" b="0" i="1">
                <a:solidFill>
                  <a:srgbClr val="4B5563"/>
                </a:solidFill>
                <a:latin typeface="Calibri"/>
              </a:rPr>
              <a:t>The Q&amp;A answers led to a clear architecture — agreed upon before coding started.</a:t>
            </a:r>
          </a:p>
        </p:txBody>
      </p:sp>
      <p:sp>
        <p:nvSpPr>
          <p:cNvPr id="6" name="Rounded Rectangle 5"/>
          <p:cNvSpPr/>
          <p:nvPr/>
        </p:nvSpPr>
        <p:spPr>
          <a:xfrm>
            <a:off x="548640" y="1920240"/>
            <a:ext cx="6035040" cy="3931920"/>
          </a:xfrm>
          <a:prstGeom prst="roundRect">
            <a:avLst>
              <a:gd name="adj" fmla="val 6000"/>
            </a:avLst>
          </a:prstGeom>
          <a:solidFill>
            <a:srgbClr val="F1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37360" y="2240280"/>
            <a:ext cx="3657600" cy="64008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2350008"/>
            <a:ext cx="3657600" cy="45720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FFFFFF"/>
                </a:solidFill>
                <a:latin typeface="Calibri"/>
              </a:rPr>
              <a:t>Browser  ·  Angular 19 UI</a:t>
            </a:r>
          </a:p>
        </p:txBody>
      </p:sp>
      <p:sp>
        <p:nvSpPr>
          <p:cNvPr id="9" name="Down Arrow 8"/>
          <p:cNvSpPr/>
          <p:nvPr/>
        </p:nvSpPr>
        <p:spPr>
          <a:xfrm>
            <a:off x="3337560" y="2953512"/>
            <a:ext cx="457200" cy="365760"/>
          </a:xfrm>
          <a:prstGeom prst="down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2999232"/>
            <a:ext cx="2560320" cy="274320"/>
          </a:xfrm>
          <a:prstGeom prst="rect">
            <a:avLst/>
          </a:prstGeom>
          <a:noFill/>
        </p:spPr>
        <p:txBody>
          <a:bodyPr wrap="square" lIns="45720" rIns="45720" tIns="18288" bIns="18288" anchor="t">
            <a:spAutoFit/>
          </a:bodyPr>
          <a:lstStyle/>
          <a:p>
            <a:pPr algn="l">
              <a:lnSpc>
                <a:spcPct val="115000"/>
              </a:lnSpc>
              <a:spcAft>
                <a:spcPts val="400"/>
              </a:spcAft>
            </a:pPr>
            <a:r>
              <a:rPr sz="1000" b="0" i="1">
                <a:solidFill>
                  <a:srgbClr val="6B7280"/>
                </a:solidFill>
                <a:latin typeface="Calibri"/>
              </a:rPr>
              <a:t>HTTP (localhost)</a:t>
            </a:r>
          </a:p>
        </p:txBody>
      </p:sp>
      <p:sp>
        <p:nvSpPr>
          <p:cNvPr id="11" name="Rounded Rectangle 10"/>
          <p:cNvSpPr/>
          <p:nvPr/>
        </p:nvSpPr>
        <p:spPr>
          <a:xfrm>
            <a:off x="1463040" y="3429000"/>
            <a:ext cx="4206240" cy="868680"/>
          </a:xfrm>
          <a:prstGeom prst="roundRect">
            <a:avLst>
              <a:gd name="adj" fmla="val 6000"/>
            </a:avLst>
          </a:prstGeom>
          <a:solidFill>
            <a:srgbClr val="2B3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3538728"/>
            <a:ext cx="4206240" cy="36576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FFFFFF"/>
                </a:solidFill>
                <a:latin typeface="Calibri"/>
              </a:rPr>
              <a:t>Node.js / Express Backend</a:t>
            </a:r>
          </a:p>
        </p:txBody>
      </p:sp>
      <p:sp>
        <p:nvSpPr>
          <p:cNvPr id="13" name="TextBox 12"/>
          <p:cNvSpPr txBox="1"/>
          <p:nvPr/>
        </p:nvSpPr>
        <p:spPr>
          <a:xfrm>
            <a:off x="1463040" y="3886200"/>
            <a:ext cx="4206240" cy="365760"/>
          </a:xfrm>
          <a:prstGeom prst="rect">
            <a:avLst/>
          </a:prstGeom>
          <a:noFill/>
        </p:spPr>
        <p:txBody>
          <a:bodyPr wrap="square" lIns="45720" rIns="45720" tIns="18288" bIns="18288" anchor="t">
            <a:spAutoFit/>
          </a:bodyPr>
          <a:lstStyle/>
          <a:p>
            <a:pPr algn="ctr">
              <a:lnSpc>
                <a:spcPct val="115000"/>
              </a:lnSpc>
              <a:spcAft>
                <a:spcPts val="400"/>
              </a:spcAft>
            </a:pPr>
            <a:r>
              <a:rPr sz="1100" b="0" i="1">
                <a:solidFill>
                  <a:srgbClr val="F5E6B8"/>
                </a:solidFill>
                <a:latin typeface="Calibri"/>
              </a:rPr>
              <a:t>API keys stored here</a:t>
            </a:r>
          </a:p>
        </p:txBody>
      </p:sp>
      <p:sp>
        <p:nvSpPr>
          <p:cNvPr id="14" name="Down Arrow 13"/>
          <p:cNvSpPr/>
          <p:nvPr/>
        </p:nvSpPr>
        <p:spPr>
          <a:xfrm>
            <a:off x="3337560" y="4370832"/>
            <a:ext cx="457200" cy="365760"/>
          </a:xfrm>
          <a:prstGeom prst="down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0" y="4416552"/>
            <a:ext cx="2560320" cy="274320"/>
          </a:xfrm>
          <a:prstGeom prst="rect">
            <a:avLst/>
          </a:prstGeom>
          <a:noFill/>
        </p:spPr>
        <p:txBody>
          <a:bodyPr wrap="square" lIns="45720" rIns="45720" tIns="18288" bIns="18288" anchor="t">
            <a:spAutoFit/>
          </a:bodyPr>
          <a:lstStyle/>
          <a:p>
            <a:pPr algn="l">
              <a:lnSpc>
                <a:spcPct val="115000"/>
              </a:lnSpc>
              <a:spcAft>
                <a:spcPts val="400"/>
              </a:spcAft>
            </a:pPr>
            <a:r>
              <a:rPr sz="1000" b="0" i="1">
                <a:solidFill>
                  <a:srgbClr val="6B7280"/>
                </a:solidFill>
                <a:latin typeface="Calibri"/>
              </a:rPr>
              <a:t>HTTPS</a:t>
            </a:r>
          </a:p>
        </p:txBody>
      </p:sp>
      <p:sp>
        <p:nvSpPr>
          <p:cNvPr id="16" name="Rounded Rectangle 15"/>
          <p:cNvSpPr/>
          <p:nvPr/>
        </p:nvSpPr>
        <p:spPr>
          <a:xfrm>
            <a:off x="1005840" y="4846320"/>
            <a:ext cx="2377440" cy="640080"/>
          </a:xfrm>
          <a:prstGeom prst="roundRect">
            <a:avLst>
              <a:gd name="adj" fmla="val 6000"/>
            </a:avLst>
          </a:prstGeom>
          <a:solidFill>
            <a:srgbClr val="FFFFFF"/>
          </a:solidFill>
          <a:ln w="9525">
            <a:solidFill>
              <a:srgbClr val="1A2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992624"/>
            <a:ext cx="2377440" cy="365760"/>
          </a:xfrm>
          <a:prstGeom prst="rect">
            <a:avLst/>
          </a:prstGeom>
          <a:noFill/>
        </p:spPr>
        <p:txBody>
          <a:bodyPr wrap="square" lIns="45720" rIns="45720" tIns="18288" bIns="18288" anchor="t">
            <a:spAutoFit/>
          </a:bodyPr>
          <a:lstStyle/>
          <a:p>
            <a:pPr algn="ctr">
              <a:lnSpc>
                <a:spcPct val="115000"/>
              </a:lnSpc>
              <a:spcAft>
                <a:spcPts val="400"/>
              </a:spcAft>
            </a:pPr>
            <a:r>
              <a:rPr sz="1200" b="1" i="0">
                <a:solidFill>
                  <a:srgbClr val="1A2B5E"/>
                </a:solidFill>
                <a:latin typeface="Calibri"/>
              </a:rPr>
              <a:t>OpenAI API</a:t>
            </a:r>
          </a:p>
        </p:txBody>
      </p:sp>
      <p:sp>
        <p:nvSpPr>
          <p:cNvPr id="18" name="Rounded Rectangle 17"/>
          <p:cNvSpPr/>
          <p:nvPr/>
        </p:nvSpPr>
        <p:spPr>
          <a:xfrm>
            <a:off x="3749040" y="4846320"/>
            <a:ext cx="2377440" cy="640080"/>
          </a:xfrm>
          <a:prstGeom prst="roundRect">
            <a:avLst>
              <a:gd name="adj" fmla="val 6000"/>
            </a:avLst>
          </a:prstGeom>
          <a:solidFill>
            <a:srgbClr val="FFFFFF"/>
          </a:solidFill>
          <a:ln w="9525">
            <a:solidFill>
              <a:srgbClr val="1A2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40" y="4992624"/>
            <a:ext cx="2377440" cy="365760"/>
          </a:xfrm>
          <a:prstGeom prst="rect">
            <a:avLst/>
          </a:prstGeom>
          <a:noFill/>
        </p:spPr>
        <p:txBody>
          <a:bodyPr wrap="square" lIns="45720" rIns="45720" tIns="18288" bIns="18288" anchor="t">
            <a:spAutoFit/>
          </a:bodyPr>
          <a:lstStyle/>
          <a:p>
            <a:pPr algn="ctr">
              <a:lnSpc>
                <a:spcPct val="115000"/>
              </a:lnSpc>
              <a:spcAft>
                <a:spcPts val="400"/>
              </a:spcAft>
            </a:pPr>
            <a:r>
              <a:rPr sz="1200" b="1" i="0">
                <a:solidFill>
                  <a:srgbClr val="1A2B5E"/>
                </a:solidFill>
                <a:latin typeface="Calibri"/>
              </a:rPr>
              <a:t>Google Gemini API</a:t>
            </a:r>
          </a:p>
        </p:txBody>
      </p:sp>
      <p:sp>
        <p:nvSpPr>
          <p:cNvPr id="20" name="TextBox 19"/>
          <p:cNvSpPr txBox="1"/>
          <p:nvPr/>
        </p:nvSpPr>
        <p:spPr>
          <a:xfrm>
            <a:off x="6858000" y="1920240"/>
            <a:ext cx="4937760" cy="36576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D4A017"/>
                </a:solidFill>
                <a:latin typeface="Calibri"/>
              </a:rPr>
              <a:t>KEY DECISIONS</a:t>
            </a:r>
          </a:p>
        </p:txBody>
      </p:sp>
      <p:sp>
        <p:nvSpPr>
          <p:cNvPr id="21" name="Rounded Rectangle 20"/>
          <p:cNvSpPr/>
          <p:nvPr/>
        </p:nvSpPr>
        <p:spPr>
          <a:xfrm>
            <a:off x="6858000" y="2331720"/>
            <a:ext cx="4937760"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0" y="2331720"/>
            <a:ext cx="73152" cy="84124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086600" y="2450592"/>
            <a:ext cx="4617720" cy="365760"/>
          </a:xfrm>
          <a:prstGeom prst="rect">
            <a:avLst/>
          </a:prstGeom>
          <a:noFill/>
        </p:spPr>
        <p:txBody>
          <a:bodyPr wrap="square" lIns="45720" rIns="45720" tIns="18288" bIns="18288" anchor="t">
            <a:spAutoFit/>
          </a:bodyPr>
          <a:lstStyle/>
          <a:p>
            <a:pPr algn="l">
              <a:lnSpc>
                <a:spcPct val="100000"/>
              </a:lnSpc>
              <a:spcAft>
                <a:spcPts val="0"/>
              </a:spcAft>
            </a:pPr>
            <a:r>
              <a:rPr sz="1300" b="1" i="0">
                <a:solidFill>
                  <a:srgbClr val="1A2B5E"/>
                </a:solidFill>
                <a:latin typeface="Calibri"/>
              </a:rPr>
              <a:t>Backend proxies all AI calls</a:t>
            </a:r>
          </a:p>
        </p:txBody>
      </p:sp>
      <p:sp>
        <p:nvSpPr>
          <p:cNvPr id="24" name="TextBox 23"/>
          <p:cNvSpPr txBox="1"/>
          <p:nvPr/>
        </p:nvSpPr>
        <p:spPr>
          <a:xfrm>
            <a:off x="7086600" y="2743200"/>
            <a:ext cx="4617720" cy="457200"/>
          </a:xfrm>
          <a:prstGeom prst="rect">
            <a:avLst/>
          </a:prstGeom>
          <a:noFill/>
        </p:spPr>
        <p:txBody>
          <a:bodyPr wrap="square" lIns="45720" rIns="45720" tIns="18288" bIns="18288" anchor="t">
            <a:spAutoFit/>
          </a:bodyPr>
          <a:lstStyle/>
          <a:p>
            <a:pPr algn="l">
              <a:lnSpc>
                <a:spcPct val="120000"/>
              </a:lnSpc>
              <a:spcAft>
                <a:spcPts val="0"/>
              </a:spcAft>
            </a:pPr>
            <a:r>
              <a:rPr sz="1100" b="0" i="1">
                <a:solidFill>
                  <a:srgbClr val="4B5563"/>
                </a:solidFill>
                <a:latin typeface="Calibri"/>
              </a:rPr>
              <a:t>API keys never touch the browser</a:t>
            </a:r>
          </a:p>
        </p:txBody>
      </p:sp>
      <p:sp>
        <p:nvSpPr>
          <p:cNvPr id="25" name="Rounded Rectangle 24"/>
          <p:cNvSpPr/>
          <p:nvPr/>
        </p:nvSpPr>
        <p:spPr>
          <a:xfrm>
            <a:off x="6858000" y="3264408"/>
            <a:ext cx="4937760"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0" y="3264408"/>
            <a:ext cx="73152" cy="84124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086600" y="3383280"/>
            <a:ext cx="4617720" cy="365760"/>
          </a:xfrm>
          <a:prstGeom prst="rect">
            <a:avLst/>
          </a:prstGeom>
          <a:noFill/>
        </p:spPr>
        <p:txBody>
          <a:bodyPr wrap="square" lIns="45720" rIns="45720" tIns="18288" bIns="18288" anchor="t">
            <a:spAutoFit/>
          </a:bodyPr>
          <a:lstStyle/>
          <a:p>
            <a:pPr algn="l">
              <a:lnSpc>
                <a:spcPct val="100000"/>
              </a:lnSpc>
              <a:spcAft>
                <a:spcPts val="0"/>
              </a:spcAft>
            </a:pPr>
            <a:r>
              <a:rPr sz="1300" b="1" i="0">
                <a:solidFill>
                  <a:srgbClr val="1A2B5E"/>
                </a:solidFill>
                <a:latin typeface="Calibri"/>
              </a:rPr>
              <a:t>PDF sent as base64 data</a:t>
            </a:r>
          </a:p>
        </p:txBody>
      </p:sp>
      <p:sp>
        <p:nvSpPr>
          <p:cNvPr id="28" name="TextBox 27"/>
          <p:cNvSpPr txBox="1"/>
          <p:nvPr/>
        </p:nvSpPr>
        <p:spPr>
          <a:xfrm>
            <a:off x="7086600" y="3675888"/>
            <a:ext cx="4617720" cy="457200"/>
          </a:xfrm>
          <a:prstGeom prst="rect">
            <a:avLst/>
          </a:prstGeom>
          <a:noFill/>
        </p:spPr>
        <p:txBody>
          <a:bodyPr wrap="square" lIns="45720" rIns="45720" tIns="18288" bIns="18288" anchor="t">
            <a:spAutoFit/>
          </a:bodyPr>
          <a:lstStyle/>
          <a:p>
            <a:pPr algn="l">
              <a:lnSpc>
                <a:spcPct val="120000"/>
              </a:lnSpc>
              <a:spcAft>
                <a:spcPts val="0"/>
              </a:spcAft>
            </a:pPr>
            <a:r>
              <a:rPr sz="1100" b="0" i="1">
                <a:solidFill>
                  <a:srgbClr val="4B5563"/>
                </a:solidFill>
                <a:latin typeface="Calibri"/>
              </a:rPr>
              <a:t>Avoids file-upload endpoints blocked by network security</a:t>
            </a:r>
          </a:p>
        </p:txBody>
      </p:sp>
      <p:sp>
        <p:nvSpPr>
          <p:cNvPr id="29" name="Rounded Rectangle 28"/>
          <p:cNvSpPr/>
          <p:nvPr/>
        </p:nvSpPr>
        <p:spPr>
          <a:xfrm>
            <a:off x="6858000" y="4197096"/>
            <a:ext cx="4937760"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0" y="4197096"/>
            <a:ext cx="73152" cy="84124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86600" y="4315968"/>
            <a:ext cx="4617720" cy="365760"/>
          </a:xfrm>
          <a:prstGeom prst="rect">
            <a:avLst/>
          </a:prstGeom>
          <a:noFill/>
        </p:spPr>
        <p:txBody>
          <a:bodyPr wrap="square" lIns="45720" rIns="45720" tIns="18288" bIns="18288" anchor="t">
            <a:spAutoFit/>
          </a:bodyPr>
          <a:lstStyle/>
          <a:p>
            <a:pPr algn="l">
              <a:lnSpc>
                <a:spcPct val="100000"/>
              </a:lnSpc>
              <a:spcAft>
                <a:spcPts val="0"/>
              </a:spcAft>
            </a:pPr>
            <a:r>
              <a:rPr sz="1300" b="1" i="0">
                <a:solidFill>
                  <a:srgbClr val="1A2B5E"/>
                </a:solidFill>
                <a:latin typeface="Calibri"/>
              </a:rPr>
              <a:t>Stateless backend</a:t>
            </a:r>
          </a:p>
        </p:txBody>
      </p:sp>
      <p:sp>
        <p:nvSpPr>
          <p:cNvPr id="32" name="TextBox 31"/>
          <p:cNvSpPr txBox="1"/>
          <p:nvPr/>
        </p:nvSpPr>
        <p:spPr>
          <a:xfrm>
            <a:off x="7086600" y="4608576"/>
            <a:ext cx="4617720" cy="457200"/>
          </a:xfrm>
          <a:prstGeom prst="rect">
            <a:avLst/>
          </a:prstGeom>
          <a:noFill/>
        </p:spPr>
        <p:txBody>
          <a:bodyPr wrap="square" lIns="45720" rIns="45720" tIns="18288" bIns="18288" anchor="t">
            <a:spAutoFit/>
          </a:bodyPr>
          <a:lstStyle/>
          <a:p>
            <a:pPr algn="l">
              <a:lnSpc>
                <a:spcPct val="120000"/>
              </a:lnSpc>
              <a:spcAft>
                <a:spcPts val="0"/>
              </a:spcAft>
            </a:pPr>
            <a:r>
              <a:rPr sz="1100" b="0" i="1">
                <a:solidFill>
                  <a:srgbClr val="4B5563"/>
                </a:solidFill>
                <a:latin typeface="Calibri"/>
              </a:rPr>
              <a:t>Full conversation sent each request — no database</a:t>
            </a:r>
          </a:p>
        </p:txBody>
      </p:sp>
      <p:sp>
        <p:nvSpPr>
          <p:cNvPr id="33" name="Rounded Rectangle 32"/>
          <p:cNvSpPr/>
          <p:nvPr/>
        </p:nvSpPr>
        <p:spPr>
          <a:xfrm>
            <a:off x="6858000" y="5129784"/>
            <a:ext cx="4937760" cy="841248"/>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0" y="5129784"/>
            <a:ext cx="73152" cy="84124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86600" y="5248656"/>
            <a:ext cx="4617720" cy="365760"/>
          </a:xfrm>
          <a:prstGeom prst="rect">
            <a:avLst/>
          </a:prstGeom>
          <a:noFill/>
        </p:spPr>
        <p:txBody>
          <a:bodyPr wrap="square" lIns="45720" rIns="45720" tIns="18288" bIns="18288" anchor="t">
            <a:spAutoFit/>
          </a:bodyPr>
          <a:lstStyle/>
          <a:p>
            <a:pPr algn="l">
              <a:lnSpc>
                <a:spcPct val="100000"/>
              </a:lnSpc>
              <a:spcAft>
                <a:spcPts val="0"/>
              </a:spcAft>
            </a:pPr>
            <a:r>
              <a:rPr sz="1300" b="1" i="0">
                <a:solidFill>
                  <a:srgbClr val="1A2B5E"/>
                </a:solidFill>
                <a:latin typeface="Calibri"/>
              </a:rPr>
              <a:t>Only PDF-capable models offered</a:t>
            </a:r>
          </a:p>
        </p:txBody>
      </p:sp>
      <p:sp>
        <p:nvSpPr>
          <p:cNvPr id="36" name="TextBox 35"/>
          <p:cNvSpPr txBox="1"/>
          <p:nvPr/>
        </p:nvSpPr>
        <p:spPr>
          <a:xfrm>
            <a:off x="7086600" y="5541264"/>
            <a:ext cx="4617720" cy="457200"/>
          </a:xfrm>
          <a:prstGeom prst="rect">
            <a:avLst/>
          </a:prstGeom>
          <a:noFill/>
        </p:spPr>
        <p:txBody>
          <a:bodyPr wrap="square" lIns="45720" rIns="45720" tIns="18288" bIns="18288" anchor="t">
            <a:spAutoFit/>
          </a:bodyPr>
          <a:lstStyle/>
          <a:p>
            <a:pPr algn="l">
              <a:lnSpc>
                <a:spcPct val="120000"/>
              </a:lnSpc>
              <a:spcAft>
                <a:spcPts val="0"/>
              </a:spcAft>
            </a:pPr>
            <a:r>
              <a:rPr sz="1100" b="0" i="1">
                <a:solidFill>
                  <a:srgbClr val="4B5563"/>
                </a:solidFill>
                <a:latin typeface="Calibri"/>
              </a:rPr>
              <a:t>Filters out models that cannot read attachments</a:t>
            </a:r>
          </a:p>
        </p:txBody>
      </p:sp>
      <p:sp>
        <p:nvSpPr>
          <p:cNvPr id="37" name="Rectangle 36"/>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39" name="TextBox 38"/>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STEP 4</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From Blueprint to 28 Files</a:t>
            </a:r>
          </a:p>
        </p:txBody>
      </p:sp>
      <p:sp>
        <p:nvSpPr>
          <p:cNvPr id="5" name="Rounded Rectangle 4"/>
          <p:cNvSpPr/>
          <p:nvPr/>
        </p:nvSpPr>
        <p:spPr>
          <a:xfrm>
            <a:off x="548640" y="1554480"/>
            <a:ext cx="3694176" cy="192024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3694176"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874520"/>
            <a:ext cx="3694176" cy="1051560"/>
          </a:xfrm>
          <a:prstGeom prst="rect">
            <a:avLst/>
          </a:prstGeom>
          <a:noFill/>
        </p:spPr>
        <p:txBody>
          <a:bodyPr wrap="square" lIns="45720" rIns="45720" tIns="18288" bIns="18288" anchor="t">
            <a:spAutoFit/>
          </a:bodyPr>
          <a:lstStyle/>
          <a:p>
            <a:pPr algn="ctr">
              <a:lnSpc>
                <a:spcPct val="100000"/>
              </a:lnSpc>
              <a:spcAft>
                <a:spcPts val="0"/>
              </a:spcAft>
            </a:pPr>
            <a:r>
              <a:rPr sz="7200" b="1" i="0">
                <a:solidFill>
                  <a:srgbClr val="FFFFFF"/>
                </a:solidFill>
                <a:latin typeface="Calibri"/>
              </a:rPr>
              <a:t>28</a:t>
            </a:r>
          </a:p>
        </p:txBody>
      </p:sp>
      <p:sp>
        <p:nvSpPr>
          <p:cNvPr id="8" name="TextBox 7"/>
          <p:cNvSpPr txBox="1"/>
          <p:nvPr/>
        </p:nvSpPr>
        <p:spPr>
          <a:xfrm>
            <a:off x="548640" y="2852928"/>
            <a:ext cx="3694176" cy="320040"/>
          </a:xfrm>
          <a:prstGeom prst="rect">
            <a:avLst/>
          </a:prstGeom>
          <a:noFill/>
        </p:spPr>
        <p:txBody>
          <a:bodyPr wrap="square" lIns="45720" rIns="45720" tIns="18288" bIns="18288" anchor="t">
            <a:spAutoFit/>
          </a:bodyPr>
          <a:lstStyle/>
          <a:p>
            <a:pPr algn="ctr">
              <a:lnSpc>
                <a:spcPct val="115000"/>
              </a:lnSpc>
              <a:spcAft>
                <a:spcPts val="0"/>
              </a:spcAft>
            </a:pPr>
            <a:r>
              <a:rPr sz="1800" b="1" i="0">
                <a:solidFill>
                  <a:srgbClr val="D4A017"/>
                </a:solidFill>
                <a:latin typeface="Calibri"/>
              </a:rPr>
              <a:t>files</a:t>
            </a:r>
          </a:p>
        </p:txBody>
      </p:sp>
      <p:sp>
        <p:nvSpPr>
          <p:cNvPr id="9" name="TextBox 8"/>
          <p:cNvSpPr txBox="1"/>
          <p:nvPr/>
        </p:nvSpPr>
        <p:spPr>
          <a:xfrm>
            <a:off x="548640" y="3127248"/>
            <a:ext cx="3694176" cy="320040"/>
          </a:xfrm>
          <a:prstGeom prst="rect">
            <a:avLst/>
          </a:prstGeom>
          <a:noFill/>
        </p:spPr>
        <p:txBody>
          <a:bodyPr wrap="square" lIns="45720" rIns="45720" tIns="18288" bIns="18288" anchor="t">
            <a:spAutoFit/>
          </a:bodyPr>
          <a:lstStyle/>
          <a:p>
            <a:pPr algn="ctr">
              <a:lnSpc>
                <a:spcPct val="115000"/>
              </a:lnSpc>
              <a:spcAft>
                <a:spcPts val="0"/>
              </a:spcAft>
            </a:pPr>
            <a:r>
              <a:rPr sz="1200" b="0" i="1">
                <a:solidFill>
                  <a:srgbClr val="E3EAF6"/>
                </a:solidFill>
                <a:latin typeface="Calibri"/>
              </a:rPr>
              <a:t>created</a:t>
            </a:r>
          </a:p>
        </p:txBody>
      </p:sp>
      <p:sp>
        <p:nvSpPr>
          <p:cNvPr id="10" name="Rounded Rectangle 9"/>
          <p:cNvSpPr/>
          <p:nvPr/>
        </p:nvSpPr>
        <p:spPr>
          <a:xfrm>
            <a:off x="4306824" y="1554480"/>
            <a:ext cx="3694176" cy="192024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06824" y="1554480"/>
            <a:ext cx="3694176"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06824" y="1874520"/>
            <a:ext cx="3694176" cy="1051560"/>
          </a:xfrm>
          <a:prstGeom prst="rect">
            <a:avLst/>
          </a:prstGeom>
          <a:noFill/>
        </p:spPr>
        <p:txBody>
          <a:bodyPr wrap="square" lIns="45720" rIns="45720" tIns="18288" bIns="18288" anchor="t">
            <a:spAutoFit/>
          </a:bodyPr>
          <a:lstStyle/>
          <a:p>
            <a:pPr algn="ctr">
              <a:lnSpc>
                <a:spcPct val="100000"/>
              </a:lnSpc>
              <a:spcAft>
                <a:spcPts val="0"/>
              </a:spcAft>
            </a:pPr>
            <a:r>
              <a:rPr sz="7200" b="1" i="0">
                <a:solidFill>
                  <a:srgbClr val="FFFFFF"/>
                </a:solidFill>
                <a:latin typeface="Calibri"/>
              </a:rPr>
              <a:t>~2,000</a:t>
            </a:r>
          </a:p>
        </p:txBody>
      </p:sp>
      <p:sp>
        <p:nvSpPr>
          <p:cNvPr id="13" name="TextBox 12"/>
          <p:cNvSpPr txBox="1"/>
          <p:nvPr/>
        </p:nvSpPr>
        <p:spPr>
          <a:xfrm>
            <a:off x="4306824" y="2852928"/>
            <a:ext cx="3694176" cy="320040"/>
          </a:xfrm>
          <a:prstGeom prst="rect">
            <a:avLst/>
          </a:prstGeom>
          <a:noFill/>
        </p:spPr>
        <p:txBody>
          <a:bodyPr wrap="square" lIns="45720" rIns="45720" tIns="18288" bIns="18288" anchor="t">
            <a:spAutoFit/>
          </a:bodyPr>
          <a:lstStyle/>
          <a:p>
            <a:pPr algn="ctr">
              <a:lnSpc>
                <a:spcPct val="115000"/>
              </a:lnSpc>
              <a:spcAft>
                <a:spcPts val="0"/>
              </a:spcAft>
            </a:pPr>
            <a:r>
              <a:rPr sz="1800" b="1" i="0">
                <a:solidFill>
                  <a:srgbClr val="D4A017"/>
                </a:solidFill>
                <a:latin typeface="Calibri"/>
              </a:rPr>
              <a:t>lines</a:t>
            </a:r>
          </a:p>
        </p:txBody>
      </p:sp>
      <p:sp>
        <p:nvSpPr>
          <p:cNvPr id="14" name="TextBox 13"/>
          <p:cNvSpPr txBox="1"/>
          <p:nvPr/>
        </p:nvSpPr>
        <p:spPr>
          <a:xfrm>
            <a:off x="4306824" y="3127248"/>
            <a:ext cx="3694176" cy="320040"/>
          </a:xfrm>
          <a:prstGeom prst="rect">
            <a:avLst/>
          </a:prstGeom>
          <a:noFill/>
        </p:spPr>
        <p:txBody>
          <a:bodyPr wrap="square" lIns="45720" rIns="45720" tIns="18288" bIns="18288" anchor="t">
            <a:spAutoFit/>
          </a:bodyPr>
          <a:lstStyle/>
          <a:p>
            <a:pPr algn="ctr">
              <a:lnSpc>
                <a:spcPct val="115000"/>
              </a:lnSpc>
              <a:spcAft>
                <a:spcPts val="0"/>
              </a:spcAft>
            </a:pPr>
            <a:r>
              <a:rPr sz="1200" b="0" i="1">
                <a:solidFill>
                  <a:srgbClr val="E3EAF6"/>
                </a:solidFill>
                <a:latin typeface="Calibri"/>
              </a:rPr>
              <a:t>of code</a:t>
            </a:r>
          </a:p>
        </p:txBody>
      </p:sp>
      <p:sp>
        <p:nvSpPr>
          <p:cNvPr id="15" name="Rounded Rectangle 14"/>
          <p:cNvSpPr/>
          <p:nvPr/>
        </p:nvSpPr>
        <p:spPr>
          <a:xfrm>
            <a:off x="8065008" y="1554480"/>
            <a:ext cx="3694176" cy="192024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65008" y="1554480"/>
            <a:ext cx="3694176"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65008" y="1874520"/>
            <a:ext cx="3694176" cy="1051560"/>
          </a:xfrm>
          <a:prstGeom prst="rect">
            <a:avLst/>
          </a:prstGeom>
          <a:noFill/>
        </p:spPr>
        <p:txBody>
          <a:bodyPr wrap="square" lIns="45720" rIns="45720" tIns="18288" bIns="18288" anchor="t">
            <a:spAutoFit/>
          </a:bodyPr>
          <a:lstStyle/>
          <a:p>
            <a:pPr algn="ctr">
              <a:lnSpc>
                <a:spcPct val="100000"/>
              </a:lnSpc>
              <a:spcAft>
                <a:spcPts val="0"/>
              </a:spcAft>
            </a:pPr>
            <a:r>
              <a:rPr sz="7200" b="1" i="0">
                <a:solidFill>
                  <a:srgbClr val="FFFFFF"/>
                </a:solidFill>
                <a:latin typeface="Calibri"/>
              </a:rPr>
              <a:t>1</a:t>
            </a:r>
          </a:p>
        </p:txBody>
      </p:sp>
      <p:sp>
        <p:nvSpPr>
          <p:cNvPr id="18" name="TextBox 17"/>
          <p:cNvSpPr txBox="1"/>
          <p:nvPr/>
        </p:nvSpPr>
        <p:spPr>
          <a:xfrm>
            <a:off x="8065008" y="2852928"/>
            <a:ext cx="3694176" cy="320040"/>
          </a:xfrm>
          <a:prstGeom prst="rect">
            <a:avLst/>
          </a:prstGeom>
          <a:noFill/>
        </p:spPr>
        <p:txBody>
          <a:bodyPr wrap="square" lIns="45720" rIns="45720" tIns="18288" bIns="18288" anchor="t">
            <a:spAutoFit/>
          </a:bodyPr>
          <a:lstStyle/>
          <a:p>
            <a:pPr algn="ctr">
              <a:lnSpc>
                <a:spcPct val="115000"/>
              </a:lnSpc>
              <a:spcAft>
                <a:spcPts val="0"/>
              </a:spcAft>
            </a:pPr>
            <a:r>
              <a:rPr sz="1800" b="1" i="0">
                <a:solidFill>
                  <a:srgbClr val="D4A017"/>
                </a:solidFill>
                <a:latin typeface="Calibri"/>
              </a:rPr>
              <a:t>session</a:t>
            </a:r>
          </a:p>
        </p:txBody>
      </p:sp>
      <p:sp>
        <p:nvSpPr>
          <p:cNvPr id="19" name="TextBox 18"/>
          <p:cNvSpPr txBox="1"/>
          <p:nvPr/>
        </p:nvSpPr>
        <p:spPr>
          <a:xfrm>
            <a:off x="8065008" y="3127248"/>
            <a:ext cx="3694176" cy="320040"/>
          </a:xfrm>
          <a:prstGeom prst="rect">
            <a:avLst/>
          </a:prstGeom>
          <a:noFill/>
        </p:spPr>
        <p:txBody>
          <a:bodyPr wrap="square" lIns="45720" rIns="45720" tIns="18288" bIns="18288" anchor="t">
            <a:spAutoFit/>
          </a:bodyPr>
          <a:lstStyle/>
          <a:p>
            <a:pPr algn="ctr">
              <a:lnSpc>
                <a:spcPct val="115000"/>
              </a:lnSpc>
              <a:spcAft>
                <a:spcPts val="0"/>
              </a:spcAft>
            </a:pPr>
            <a:r>
              <a:rPr sz="1200" b="0" i="1">
                <a:solidFill>
                  <a:srgbClr val="E3EAF6"/>
                </a:solidFill>
                <a:latin typeface="Calibri"/>
              </a:rPr>
              <a:t>no breaks, no handoffs</a:t>
            </a:r>
          </a:p>
        </p:txBody>
      </p:sp>
      <p:sp>
        <p:nvSpPr>
          <p:cNvPr id="20" name="TextBox 19"/>
          <p:cNvSpPr txBox="1"/>
          <p:nvPr/>
        </p:nvSpPr>
        <p:spPr>
          <a:xfrm>
            <a:off x="548640" y="3703320"/>
            <a:ext cx="10972800" cy="36576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D4A017"/>
                </a:solidFill>
                <a:latin typeface="Calibri"/>
              </a:rPr>
              <a:t>WHAT WAS GENERATED</a:t>
            </a:r>
          </a:p>
        </p:txBody>
      </p:sp>
      <p:sp>
        <p:nvSpPr>
          <p:cNvPr id="21" name="Rounded Rectangle 20"/>
          <p:cNvSpPr/>
          <p:nvPr/>
        </p:nvSpPr>
        <p:spPr>
          <a:xfrm>
            <a:off x="548640" y="4069080"/>
            <a:ext cx="11091672" cy="210312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206240"/>
            <a:ext cx="5349240" cy="1828800"/>
          </a:xfrm>
          <a:prstGeom prst="rect">
            <a:avLst/>
          </a:prstGeom>
          <a:noFill/>
        </p:spPr>
        <p:txBody>
          <a:bodyPr wrap="square" lIns="45720" rIns="45720" tIns="18288" bIns="18288">
            <a:spAutoFit/>
          </a:bodyPr>
          <a:lstStyle/>
          <a:p>
            <a:pPr algn="l">
              <a:lnSpc>
                <a:spcPct val="125000"/>
              </a:lnSpc>
              <a:spcAft>
                <a:spcPts val="800"/>
              </a:spcAft>
            </a:pPr>
            <a:r>
              <a:rPr sz="1200" b="1">
                <a:solidFill>
                  <a:srgbClr val="D4A017"/>
                </a:solidFill>
                <a:latin typeface="Calibri"/>
              </a:rPr>
              <a:t>■  </a:t>
            </a:r>
            <a:r>
              <a:rPr sz="1200">
                <a:solidFill>
                  <a:srgbClr val="1F2937"/>
                </a:solidFill>
                <a:latin typeface="Calibri"/>
              </a:rPr>
              <a:t>Complete Node.js/Express backend with API routing and file handling</a:t>
            </a:r>
          </a:p>
          <a:p>
            <a:pPr algn="l">
              <a:lnSpc>
                <a:spcPct val="125000"/>
              </a:lnSpc>
              <a:spcAft>
                <a:spcPts val="800"/>
              </a:spcAft>
            </a:pPr>
            <a:r>
              <a:rPr sz="1200" b="1">
                <a:solidFill>
                  <a:srgbClr val="D4A017"/>
                </a:solidFill>
                <a:latin typeface="Calibri"/>
              </a:rPr>
              <a:t>■  </a:t>
            </a:r>
            <a:r>
              <a:rPr sz="1200">
                <a:solidFill>
                  <a:srgbClr val="1F2937"/>
                </a:solidFill>
                <a:latin typeface="Calibri"/>
              </a:rPr>
              <a:t>Angular 19 frontend with four components (config, upload, chat, root)</a:t>
            </a:r>
          </a:p>
          <a:p>
            <a:pPr algn="l">
              <a:lnSpc>
                <a:spcPct val="125000"/>
              </a:lnSpc>
              <a:spcAft>
                <a:spcPts val="800"/>
              </a:spcAft>
            </a:pPr>
            <a:r>
              <a:rPr sz="1200" b="1">
                <a:solidFill>
                  <a:srgbClr val="D4A017"/>
                </a:solidFill>
                <a:latin typeface="Calibri"/>
              </a:rPr>
              <a:t>■  </a:t>
            </a:r>
            <a:r>
              <a:rPr sz="1200">
                <a:solidFill>
                  <a:srgbClr val="1F2937"/>
                </a:solidFill>
                <a:latin typeface="Calibri"/>
              </a:rPr>
              <a:t>API integrations for both OpenAI and Google Gemini</a:t>
            </a:r>
          </a:p>
        </p:txBody>
      </p:sp>
      <p:sp>
        <p:nvSpPr>
          <p:cNvPr id="23" name="TextBox 22"/>
          <p:cNvSpPr txBox="1"/>
          <p:nvPr/>
        </p:nvSpPr>
        <p:spPr>
          <a:xfrm>
            <a:off x="6263640" y="4206240"/>
            <a:ext cx="5349240" cy="1828800"/>
          </a:xfrm>
          <a:prstGeom prst="rect">
            <a:avLst/>
          </a:prstGeom>
          <a:noFill/>
        </p:spPr>
        <p:txBody>
          <a:bodyPr wrap="square" lIns="45720" rIns="45720" tIns="18288" bIns="18288">
            <a:spAutoFit/>
          </a:bodyPr>
          <a:lstStyle/>
          <a:p>
            <a:pPr algn="l">
              <a:lnSpc>
                <a:spcPct val="125000"/>
              </a:lnSpc>
              <a:spcAft>
                <a:spcPts val="800"/>
              </a:spcAft>
            </a:pPr>
            <a:r>
              <a:rPr sz="1200" b="1">
                <a:solidFill>
                  <a:srgbClr val="D4A017"/>
                </a:solidFill>
                <a:latin typeface="Calibri"/>
              </a:rPr>
              <a:t>■  </a:t>
            </a:r>
            <a:r>
              <a:rPr sz="1200">
                <a:solidFill>
                  <a:srgbClr val="1F2937"/>
                </a:solidFill>
                <a:latin typeface="Calibri"/>
              </a:rPr>
              <a:t>Angular Material design system for the UI</a:t>
            </a:r>
          </a:p>
          <a:p>
            <a:pPr algn="l">
              <a:lnSpc>
                <a:spcPct val="125000"/>
              </a:lnSpc>
              <a:spcAft>
                <a:spcPts val="800"/>
              </a:spcAft>
            </a:pPr>
            <a:r>
              <a:rPr sz="1200" b="1">
                <a:solidFill>
                  <a:srgbClr val="D4A017"/>
                </a:solidFill>
                <a:latin typeface="Calibri"/>
              </a:rPr>
              <a:t>■  </a:t>
            </a:r>
            <a:r>
              <a:rPr sz="1200">
                <a:solidFill>
                  <a:srgbClr val="1F2937"/>
                </a:solidFill>
                <a:latin typeface="Calibri"/>
              </a:rPr>
              <a:t>Proxy configuration so frontend talks only to local backend</a:t>
            </a:r>
          </a:p>
          <a:p>
            <a:pPr algn="l">
              <a:lnSpc>
                <a:spcPct val="125000"/>
              </a:lnSpc>
              <a:spcAft>
                <a:spcPts val="800"/>
              </a:spcAft>
            </a:pPr>
            <a:r>
              <a:rPr sz="1200" b="1">
                <a:solidFill>
                  <a:srgbClr val="D4A017"/>
                </a:solidFill>
                <a:latin typeface="Calibri"/>
              </a:rPr>
              <a:t>■  </a:t>
            </a:r>
            <a:r>
              <a:rPr sz="1200">
                <a:solidFill>
                  <a:srgbClr val="1F2937"/>
                </a:solidFill>
                <a:latin typeface="Calibri"/>
              </a:rPr>
              <a:t>Environment file template for API key configuration</a:t>
            </a:r>
          </a:p>
        </p:txBody>
      </p:sp>
      <p:sp>
        <p:nvSpPr>
          <p:cNvPr id="24" name="Rectangle 23"/>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26" name="TextBox 25"/>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STEP 5</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Debugging in the Real World</a:t>
            </a:r>
          </a:p>
        </p:txBody>
      </p:sp>
      <p:sp>
        <p:nvSpPr>
          <p:cNvPr id="5" name="TextBox 4"/>
          <p:cNvSpPr txBox="1"/>
          <p:nvPr/>
        </p:nvSpPr>
        <p:spPr>
          <a:xfrm>
            <a:off x="548640" y="1417320"/>
            <a:ext cx="10972800" cy="365760"/>
          </a:xfrm>
          <a:prstGeom prst="rect">
            <a:avLst/>
          </a:prstGeom>
          <a:noFill/>
        </p:spPr>
        <p:txBody>
          <a:bodyPr wrap="square" lIns="45720" rIns="45720" tIns="18288" bIns="18288" anchor="t">
            <a:spAutoFit/>
          </a:bodyPr>
          <a:lstStyle/>
          <a:p>
            <a:pPr algn="l">
              <a:lnSpc>
                <a:spcPct val="115000"/>
              </a:lnSpc>
              <a:spcAft>
                <a:spcPts val="400"/>
              </a:spcAft>
            </a:pPr>
            <a:r>
              <a:rPr sz="1300" b="0" i="1">
                <a:solidFill>
                  <a:srgbClr val="4B5563"/>
                </a:solidFill>
                <a:latin typeface="Calibri"/>
              </a:rPr>
              <a:t>No application works perfectly the first time — even with AI writing the code.</a:t>
            </a:r>
          </a:p>
        </p:txBody>
      </p:sp>
      <p:sp>
        <p:nvSpPr>
          <p:cNvPr id="6" name="Rounded Rectangle 5"/>
          <p:cNvSpPr/>
          <p:nvPr/>
        </p:nvSpPr>
        <p:spPr>
          <a:xfrm>
            <a:off x="548640" y="1874519"/>
            <a:ext cx="3694176" cy="443484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74519"/>
            <a:ext cx="3694176" cy="457200"/>
          </a:xfrm>
          <a:prstGeom prst="rect">
            <a:avLst/>
          </a:prstGeom>
          <a:solidFill>
            <a:srgbClr val="B7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965959"/>
            <a:ext cx="914400" cy="32004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FFFFFF"/>
                </a:solidFill>
                <a:latin typeface="Calibri"/>
              </a:rPr>
              <a:t>BUG #1</a:t>
            </a:r>
          </a:p>
        </p:txBody>
      </p:sp>
      <p:sp>
        <p:nvSpPr>
          <p:cNvPr id="9" name="TextBox 8"/>
          <p:cNvSpPr txBox="1"/>
          <p:nvPr/>
        </p:nvSpPr>
        <p:spPr>
          <a:xfrm>
            <a:off x="1737360" y="1965959"/>
            <a:ext cx="2231136" cy="320040"/>
          </a:xfrm>
          <a:prstGeom prst="rect">
            <a:avLst/>
          </a:prstGeom>
          <a:noFill/>
        </p:spPr>
        <p:txBody>
          <a:bodyPr wrap="square" lIns="45720" rIns="45720" tIns="18288" bIns="18288" anchor="t">
            <a:spAutoFit/>
          </a:bodyPr>
          <a:lstStyle/>
          <a:p>
            <a:pPr algn="r">
              <a:lnSpc>
                <a:spcPct val="115000"/>
              </a:lnSpc>
              <a:spcAft>
                <a:spcPts val="400"/>
              </a:spcAft>
            </a:pPr>
            <a:r>
              <a:rPr sz="1300" b="1" i="0">
                <a:solidFill>
                  <a:srgbClr val="FFFFFF"/>
                </a:solidFill>
                <a:latin typeface="Calibri"/>
              </a:rPr>
              <a:t>Missing Package</a:t>
            </a:r>
          </a:p>
        </p:txBody>
      </p:sp>
      <p:sp>
        <p:nvSpPr>
          <p:cNvPr id="10" name="TextBox 9"/>
          <p:cNvSpPr txBox="1"/>
          <p:nvPr/>
        </p:nvSpPr>
        <p:spPr>
          <a:xfrm>
            <a:off x="777240" y="2468879"/>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D4A017"/>
                </a:solidFill>
                <a:latin typeface="Calibri"/>
              </a:rPr>
              <a:t>WHAT HAPPENED</a:t>
            </a:r>
          </a:p>
        </p:txBody>
      </p:sp>
      <p:sp>
        <p:nvSpPr>
          <p:cNvPr id="11" name="TextBox 10"/>
          <p:cNvSpPr txBox="1"/>
          <p:nvPr/>
        </p:nvSpPr>
        <p:spPr>
          <a:xfrm>
            <a:off x="777240" y="2670047"/>
            <a:ext cx="3236976" cy="640080"/>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4B5563"/>
                </a:solidFill>
                <a:latin typeface="Calibri"/>
              </a:rPr>
              <a:t>Frontend refused to start — a required build-tool package was missing from the dependency list.</a:t>
            </a:r>
          </a:p>
        </p:txBody>
      </p:sp>
      <p:sp>
        <p:nvSpPr>
          <p:cNvPr id="12" name="TextBox 11"/>
          <p:cNvSpPr txBox="1"/>
          <p:nvPr/>
        </p:nvSpPr>
        <p:spPr>
          <a:xfrm>
            <a:off x="777240" y="3383279"/>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D4A017"/>
                </a:solidFill>
                <a:latin typeface="Calibri"/>
              </a:rPr>
              <a:t>HOW IT WAS CAUGHT</a:t>
            </a:r>
          </a:p>
        </p:txBody>
      </p:sp>
      <p:sp>
        <p:nvSpPr>
          <p:cNvPr id="13" name="TextBox 12"/>
          <p:cNvSpPr txBox="1"/>
          <p:nvPr/>
        </p:nvSpPr>
        <p:spPr>
          <a:xfrm>
            <a:off x="777240" y="3584447"/>
            <a:ext cx="3236976" cy="411480"/>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4B5563"/>
                </a:solidFill>
                <a:latin typeface="Calibri"/>
              </a:rPr>
              <a:t>Error message on first launch.</a:t>
            </a:r>
          </a:p>
        </p:txBody>
      </p:sp>
      <p:sp>
        <p:nvSpPr>
          <p:cNvPr id="14" name="TextBox 13"/>
          <p:cNvSpPr txBox="1"/>
          <p:nvPr/>
        </p:nvSpPr>
        <p:spPr>
          <a:xfrm>
            <a:off x="777240" y="4069079"/>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D4A017"/>
                </a:solidFill>
                <a:latin typeface="Calibri"/>
              </a:rPr>
              <a:t>HOW IT WAS FIXED</a:t>
            </a:r>
          </a:p>
        </p:txBody>
      </p:sp>
      <p:sp>
        <p:nvSpPr>
          <p:cNvPr id="15" name="TextBox 14"/>
          <p:cNvSpPr txBox="1"/>
          <p:nvPr/>
        </p:nvSpPr>
        <p:spPr>
          <a:xfrm>
            <a:off x="777240" y="4270247"/>
            <a:ext cx="3236976" cy="777240"/>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4B5563"/>
                </a:solidFill>
                <a:latin typeface="Calibri"/>
              </a:rPr>
              <a:t>One line added to the package config; resolved in under two minutes.</a:t>
            </a:r>
          </a:p>
        </p:txBody>
      </p:sp>
      <p:sp>
        <p:nvSpPr>
          <p:cNvPr id="16" name="Rectangle 15"/>
          <p:cNvSpPr/>
          <p:nvPr/>
        </p:nvSpPr>
        <p:spPr>
          <a:xfrm>
            <a:off x="777240" y="5440679"/>
            <a:ext cx="3236976" cy="1828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5513831"/>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1A2B5E"/>
                </a:solidFill>
                <a:latin typeface="Calibri"/>
              </a:rPr>
              <a:t>LESSON</a:t>
            </a:r>
          </a:p>
        </p:txBody>
      </p:sp>
      <p:sp>
        <p:nvSpPr>
          <p:cNvPr id="18" name="TextBox 17"/>
          <p:cNvSpPr txBox="1"/>
          <p:nvPr/>
        </p:nvSpPr>
        <p:spPr>
          <a:xfrm>
            <a:off x="777240" y="5733287"/>
            <a:ext cx="3236976" cy="457200"/>
          </a:xfrm>
          <a:prstGeom prst="rect">
            <a:avLst/>
          </a:prstGeom>
          <a:noFill/>
        </p:spPr>
        <p:txBody>
          <a:bodyPr wrap="square" lIns="45720" rIns="45720" tIns="18288" bIns="18288" anchor="t">
            <a:spAutoFit/>
          </a:bodyPr>
          <a:lstStyle/>
          <a:p>
            <a:pPr algn="l">
              <a:lnSpc>
                <a:spcPct val="120000"/>
              </a:lnSpc>
              <a:spcAft>
                <a:spcPts val="400"/>
              </a:spcAft>
            </a:pPr>
            <a:r>
              <a:rPr sz="1000" b="1" i="1">
                <a:solidFill>
                  <a:srgbClr val="1A2B5E"/>
                </a:solidFill>
                <a:latin typeface="Calibri"/>
              </a:rPr>
              <a:t>AI-generated config can miss things. Always verify by running it.</a:t>
            </a:r>
          </a:p>
        </p:txBody>
      </p:sp>
      <p:sp>
        <p:nvSpPr>
          <p:cNvPr id="19" name="Rounded Rectangle 18"/>
          <p:cNvSpPr/>
          <p:nvPr/>
        </p:nvSpPr>
        <p:spPr>
          <a:xfrm>
            <a:off x="4311396" y="1874519"/>
            <a:ext cx="3694176" cy="443484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11396" y="1874519"/>
            <a:ext cx="3694176" cy="457200"/>
          </a:xfrm>
          <a:prstGeom prst="rect">
            <a:avLst/>
          </a:prstGeom>
          <a:solidFill>
            <a:srgbClr val="B7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39996" y="1965959"/>
            <a:ext cx="914400" cy="32004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FFFFFF"/>
                </a:solidFill>
                <a:latin typeface="Calibri"/>
              </a:rPr>
              <a:t>BUG #2</a:t>
            </a:r>
          </a:p>
        </p:txBody>
      </p:sp>
      <p:sp>
        <p:nvSpPr>
          <p:cNvPr id="22" name="TextBox 21"/>
          <p:cNvSpPr txBox="1"/>
          <p:nvPr/>
        </p:nvSpPr>
        <p:spPr>
          <a:xfrm>
            <a:off x="5500116" y="1965959"/>
            <a:ext cx="2231136" cy="320040"/>
          </a:xfrm>
          <a:prstGeom prst="rect">
            <a:avLst/>
          </a:prstGeom>
          <a:noFill/>
        </p:spPr>
        <p:txBody>
          <a:bodyPr wrap="square" lIns="45720" rIns="45720" tIns="18288" bIns="18288" anchor="t">
            <a:spAutoFit/>
          </a:bodyPr>
          <a:lstStyle/>
          <a:p>
            <a:pPr algn="r">
              <a:lnSpc>
                <a:spcPct val="115000"/>
              </a:lnSpc>
              <a:spcAft>
                <a:spcPts val="400"/>
              </a:spcAft>
            </a:pPr>
            <a:r>
              <a:rPr sz="1300" b="1" i="0">
                <a:solidFill>
                  <a:srgbClr val="FFFFFF"/>
                </a:solidFill>
                <a:latin typeface="Calibri"/>
              </a:rPr>
              <a:t>Network Block</a:t>
            </a:r>
          </a:p>
        </p:txBody>
      </p:sp>
      <p:sp>
        <p:nvSpPr>
          <p:cNvPr id="23" name="TextBox 22"/>
          <p:cNvSpPr txBox="1"/>
          <p:nvPr/>
        </p:nvSpPr>
        <p:spPr>
          <a:xfrm>
            <a:off x="4539996" y="2468879"/>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D4A017"/>
                </a:solidFill>
                <a:latin typeface="Calibri"/>
              </a:rPr>
              <a:t>WHAT HAPPENED</a:t>
            </a:r>
          </a:p>
        </p:txBody>
      </p:sp>
      <p:sp>
        <p:nvSpPr>
          <p:cNvPr id="24" name="TextBox 23"/>
          <p:cNvSpPr txBox="1"/>
          <p:nvPr/>
        </p:nvSpPr>
        <p:spPr>
          <a:xfrm>
            <a:off x="4539996" y="2670047"/>
            <a:ext cx="3236976" cy="640080"/>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4B5563"/>
                </a:solidFill>
                <a:latin typeface="Calibri"/>
              </a:rPr>
              <a:t>Uploading a PDF triggered a 403 from Zscaler, blocking the request to OpenAI's file-upload endpoint.</a:t>
            </a:r>
          </a:p>
        </p:txBody>
      </p:sp>
      <p:sp>
        <p:nvSpPr>
          <p:cNvPr id="25" name="TextBox 24"/>
          <p:cNvSpPr txBox="1"/>
          <p:nvPr/>
        </p:nvSpPr>
        <p:spPr>
          <a:xfrm>
            <a:off x="4539996" y="3383279"/>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D4A017"/>
                </a:solidFill>
                <a:latin typeface="Calibri"/>
              </a:rPr>
              <a:t>HOW IT WAS CAUGHT</a:t>
            </a:r>
          </a:p>
        </p:txBody>
      </p:sp>
      <p:sp>
        <p:nvSpPr>
          <p:cNvPr id="26" name="TextBox 25"/>
          <p:cNvSpPr txBox="1"/>
          <p:nvPr/>
        </p:nvSpPr>
        <p:spPr>
          <a:xfrm>
            <a:off x="4539996" y="3584447"/>
            <a:ext cx="3236976" cy="411480"/>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4B5563"/>
                </a:solidFill>
                <a:latin typeface="Calibri"/>
              </a:rPr>
              <a:t>Browser error — Zscaler's block page appeared in the response.</a:t>
            </a:r>
          </a:p>
        </p:txBody>
      </p:sp>
      <p:sp>
        <p:nvSpPr>
          <p:cNvPr id="27" name="TextBox 26"/>
          <p:cNvSpPr txBox="1"/>
          <p:nvPr/>
        </p:nvSpPr>
        <p:spPr>
          <a:xfrm>
            <a:off x="4539996" y="4069079"/>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D4A017"/>
                </a:solidFill>
                <a:latin typeface="Calibri"/>
              </a:rPr>
              <a:t>HOW IT WAS FIXED</a:t>
            </a:r>
          </a:p>
        </p:txBody>
      </p:sp>
      <p:sp>
        <p:nvSpPr>
          <p:cNvPr id="28" name="TextBox 27"/>
          <p:cNvSpPr txBox="1"/>
          <p:nvPr/>
        </p:nvSpPr>
        <p:spPr>
          <a:xfrm>
            <a:off x="4539996" y="4270247"/>
            <a:ext cx="3236976" cy="777240"/>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4B5563"/>
                </a:solidFill>
                <a:latin typeface="Calibri"/>
              </a:rPr>
              <a:t>Claude Code rewrote the upload to send the PDF as embedded data inside a regular API message — same pattern as Gemini.</a:t>
            </a:r>
          </a:p>
        </p:txBody>
      </p:sp>
      <p:sp>
        <p:nvSpPr>
          <p:cNvPr id="29" name="Rectangle 28"/>
          <p:cNvSpPr/>
          <p:nvPr/>
        </p:nvSpPr>
        <p:spPr>
          <a:xfrm>
            <a:off x="4539996" y="5440679"/>
            <a:ext cx="3236976" cy="1828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39996" y="5513831"/>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1A2B5E"/>
                </a:solidFill>
                <a:latin typeface="Calibri"/>
              </a:rPr>
              <a:t>LESSON</a:t>
            </a:r>
          </a:p>
        </p:txBody>
      </p:sp>
      <p:sp>
        <p:nvSpPr>
          <p:cNvPr id="31" name="TextBox 30"/>
          <p:cNvSpPr txBox="1"/>
          <p:nvPr/>
        </p:nvSpPr>
        <p:spPr>
          <a:xfrm>
            <a:off x="4539996" y="5733287"/>
            <a:ext cx="3236976" cy="457200"/>
          </a:xfrm>
          <a:prstGeom prst="rect">
            <a:avLst/>
          </a:prstGeom>
          <a:noFill/>
        </p:spPr>
        <p:txBody>
          <a:bodyPr wrap="square" lIns="45720" rIns="45720" tIns="18288" bIns="18288" anchor="t">
            <a:spAutoFit/>
          </a:bodyPr>
          <a:lstStyle/>
          <a:p>
            <a:pPr algn="l">
              <a:lnSpc>
                <a:spcPct val="120000"/>
              </a:lnSpc>
              <a:spcAft>
                <a:spcPts val="400"/>
              </a:spcAft>
            </a:pPr>
            <a:r>
              <a:rPr sz="1000" b="1" i="1">
                <a:solidFill>
                  <a:srgbClr val="1A2B5E"/>
                </a:solidFill>
                <a:latin typeface="Calibri"/>
              </a:rPr>
              <a:t>Enterprise constraints are real. AI adapts fast when the constraint is clearly described.</a:t>
            </a:r>
          </a:p>
        </p:txBody>
      </p:sp>
      <p:sp>
        <p:nvSpPr>
          <p:cNvPr id="32" name="Rounded Rectangle 31"/>
          <p:cNvSpPr/>
          <p:nvPr/>
        </p:nvSpPr>
        <p:spPr>
          <a:xfrm>
            <a:off x="8074152" y="1874519"/>
            <a:ext cx="3694176" cy="443484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74152" y="1874519"/>
            <a:ext cx="3694176" cy="457200"/>
          </a:xfrm>
          <a:prstGeom prst="rect">
            <a:avLst/>
          </a:prstGeom>
          <a:solidFill>
            <a:srgbClr val="B7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02752" y="1965959"/>
            <a:ext cx="914400" cy="32004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FFFFFF"/>
                </a:solidFill>
                <a:latin typeface="Calibri"/>
              </a:rPr>
              <a:t>BUG #3</a:t>
            </a:r>
          </a:p>
        </p:txBody>
      </p:sp>
      <p:sp>
        <p:nvSpPr>
          <p:cNvPr id="35" name="TextBox 34"/>
          <p:cNvSpPr txBox="1"/>
          <p:nvPr/>
        </p:nvSpPr>
        <p:spPr>
          <a:xfrm>
            <a:off x="9262872" y="1965959"/>
            <a:ext cx="2231136" cy="320040"/>
          </a:xfrm>
          <a:prstGeom prst="rect">
            <a:avLst/>
          </a:prstGeom>
          <a:noFill/>
        </p:spPr>
        <p:txBody>
          <a:bodyPr wrap="square" lIns="45720" rIns="45720" tIns="18288" bIns="18288" anchor="t">
            <a:spAutoFit/>
          </a:bodyPr>
          <a:lstStyle/>
          <a:p>
            <a:pPr algn="r">
              <a:lnSpc>
                <a:spcPct val="115000"/>
              </a:lnSpc>
              <a:spcAft>
                <a:spcPts val="400"/>
              </a:spcAft>
            </a:pPr>
            <a:r>
              <a:rPr sz="1300" b="1" i="0">
                <a:solidFill>
                  <a:srgbClr val="FFFFFF"/>
                </a:solidFill>
                <a:latin typeface="Calibri"/>
              </a:rPr>
              <a:t>Invisible Scrollbar</a:t>
            </a:r>
          </a:p>
        </p:txBody>
      </p:sp>
      <p:sp>
        <p:nvSpPr>
          <p:cNvPr id="36" name="TextBox 35"/>
          <p:cNvSpPr txBox="1"/>
          <p:nvPr/>
        </p:nvSpPr>
        <p:spPr>
          <a:xfrm>
            <a:off x="8302752" y="2468879"/>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D4A017"/>
                </a:solidFill>
                <a:latin typeface="Calibri"/>
              </a:rPr>
              <a:t>WHAT HAPPENED</a:t>
            </a:r>
          </a:p>
        </p:txBody>
      </p:sp>
      <p:sp>
        <p:nvSpPr>
          <p:cNvPr id="37" name="TextBox 36"/>
          <p:cNvSpPr txBox="1"/>
          <p:nvPr/>
        </p:nvSpPr>
        <p:spPr>
          <a:xfrm>
            <a:off x="8302752" y="2670047"/>
            <a:ext cx="3236976" cy="640080"/>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4B5563"/>
                </a:solidFill>
                <a:latin typeface="Calibri"/>
              </a:rPr>
              <a:t>Chat window displayed AI responses but couldn't scroll — long responses were cut off.</a:t>
            </a:r>
          </a:p>
        </p:txBody>
      </p:sp>
      <p:sp>
        <p:nvSpPr>
          <p:cNvPr id="38" name="TextBox 37"/>
          <p:cNvSpPr txBox="1"/>
          <p:nvPr/>
        </p:nvSpPr>
        <p:spPr>
          <a:xfrm>
            <a:off x="8302752" y="3383279"/>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D4A017"/>
                </a:solidFill>
                <a:latin typeface="Calibri"/>
              </a:rPr>
              <a:t>HOW IT WAS CAUGHT</a:t>
            </a:r>
          </a:p>
        </p:txBody>
      </p:sp>
      <p:sp>
        <p:nvSpPr>
          <p:cNvPr id="39" name="TextBox 38"/>
          <p:cNvSpPr txBox="1"/>
          <p:nvPr/>
        </p:nvSpPr>
        <p:spPr>
          <a:xfrm>
            <a:off x="8302752" y="3584447"/>
            <a:ext cx="3236976" cy="411480"/>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4B5563"/>
                </a:solidFill>
                <a:latin typeface="Calibri"/>
              </a:rPr>
              <a:t>Manual testing — user shared a screenshot.</a:t>
            </a:r>
          </a:p>
        </p:txBody>
      </p:sp>
      <p:sp>
        <p:nvSpPr>
          <p:cNvPr id="40" name="TextBox 39"/>
          <p:cNvSpPr txBox="1"/>
          <p:nvPr/>
        </p:nvSpPr>
        <p:spPr>
          <a:xfrm>
            <a:off x="8302752" y="4069079"/>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D4A017"/>
                </a:solidFill>
                <a:latin typeface="Calibri"/>
              </a:rPr>
              <a:t>HOW IT WAS FIXED</a:t>
            </a:r>
          </a:p>
        </p:txBody>
      </p:sp>
      <p:sp>
        <p:nvSpPr>
          <p:cNvPr id="41" name="TextBox 40"/>
          <p:cNvSpPr txBox="1"/>
          <p:nvPr/>
        </p:nvSpPr>
        <p:spPr>
          <a:xfrm>
            <a:off x="8302752" y="4270247"/>
            <a:ext cx="3236976" cy="777240"/>
          </a:xfrm>
          <a:prstGeom prst="rect">
            <a:avLst/>
          </a:prstGeom>
          <a:noFill/>
        </p:spPr>
        <p:txBody>
          <a:bodyPr wrap="square" lIns="45720" rIns="45720" tIns="18288" bIns="18288" anchor="t">
            <a:spAutoFit/>
          </a:bodyPr>
          <a:lstStyle/>
          <a:p>
            <a:pPr algn="l">
              <a:lnSpc>
                <a:spcPct val="120000"/>
              </a:lnSpc>
              <a:spcAft>
                <a:spcPts val="0"/>
              </a:spcAft>
            </a:pPr>
            <a:r>
              <a:rPr sz="1000" b="0" i="0">
                <a:solidFill>
                  <a:srgbClr val="4B5563"/>
                </a:solidFill>
                <a:latin typeface="Calibri"/>
              </a:rPr>
              <a:t>CSS layout — missing min-height: 0 at multiple levels. Two iterations to fully resolve.</a:t>
            </a:r>
          </a:p>
        </p:txBody>
      </p:sp>
      <p:sp>
        <p:nvSpPr>
          <p:cNvPr id="42" name="Rectangle 41"/>
          <p:cNvSpPr/>
          <p:nvPr/>
        </p:nvSpPr>
        <p:spPr>
          <a:xfrm>
            <a:off x="8302752" y="5440679"/>
            <a:ext cx="3236976" cy="18288"/>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302752" y="5513831"/>
            <a:ext cx="3236976" cy="201168"/>
          </a:xfrm>
          <a:prstGeom prst="rect">
            <a:avLst/>
          </a:prstGeom>
          <a:noFill/>
        </p:spPr>
        <p:txBody>
          <a:bodyPr wrap="square" lIns="45720" rIns="45720" tIns="18288" bIns="18288" anchor="t">
            <a:spAutoFit/>
          </a:bodyPr>
          <a:lstStyle/>
          <a:p>
            <a:pPr algn="l">
              <a:lnSpc>
                <a:spcPct val="115000"/>
              </a:lnSpc>
              <a:spcAft>
                <a:spcPts val="0"/>
              </a:spcAft>
            </a:pPr>
            <a:r>
              <a:rPr sz="800" b="1" i="0">
                <a:solidFill>
                  <a:srgbClr val="1A2B5E"/>
                </a:solidFill>
                <a:latin typeface="Calibri"/>
              </a:rPr>
              <a:t>LESSON</a:t>
            </a:r>
          </a:p>
        </p:txBody>
      </p:sp>
      <p:sp>
        <p:nvSpPr>
          <p:cNvPr id="44" name="TextBox 43"/>
          <p:cNvSpPr txBox="1"/>
          <p:nvPr/>
        </p:nvSpPr>
        <p:spPr>
          <a:xfrm>
            <a:off x="8302752" y="5733287"/>
            <a:ext cx="3236976" cy="457200"/>
          </a:xfrm>
          <a:prstGeom prst="rect">
            <a:avLst/>
          </a:prstGeom>
          <a:noFill/>
        </p:spPr>
        <p:txBody>
          <a:bodyPr wrap="square" lIns="45720" rIns="45720" tIns="18288" bIns="18288" anchor="t">
            <a:spAutoFit/>
          </a:bodyPr>
          <a:lstStyle/>
          <a:p>
            <a:pPr algn="l">
              <a:lnSpc>
                <a:spcPct val="120000"/>
              </a:lnSpc>
              <a:spcAft>
                <a:spcPts val="400"/>
              </a:spcAft>
            </a:pPr>
            <a:r>
              <a:rPr sz="1000" b="1" i="1">
                <a:solidFill>
                  <a:srgbClr val="1A2B5E"/>
                </a:solidFill>
                <a:latin typeface="Calibri"/>
              </a:rPr>
              <a:t>Screenshots accelerate debugging. More context = faster diagnosis.</a:t>
            </a:r>
          </a:p>
        </p:txBody>
      </p:sp>
      <p:sp>
        <p:nvSpPr>
          <p:cNvPr id="45" name="Rectangle 44"/>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47" name="TextBox 46"/>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STEP 6</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Documentation Wasn't an Afterthought</a:t>
            </a:r>
          </a:p>
        </p:txBody>
      </p:sp>
      <p:sp>
        <p:nvSpPr>
          <p:cNvPr id="5" name="TextBox 4"/>
          <p:cNvSpPr txBox="1"/>
          <p:nvPr/>
        </p:nvSpPr>
        <p:spPr>
          <a:xfrm>
            <a:off x="548640" y="1417320"/>
            <a:ext cx="10972800" cy="411480"/>
          </a:xfrm>
          <a:prstGeom prst="rect">
            <a:avLst/>
          </a:prstGeom>
          <a:noFill/>
        </p:spPr>
        <p:txBody>
          <a:bodyPr wrap="square" lIns="45720" rIns="45720" tIns="18288" bIns="18288" anchor="t">
            <a:spAutoFit/>
          </a:bodyPr>
          <a:lstStyle/>
          <a:p>
            <a:pPr algn="l">
              <a:lnSpc>
                <a:spcPct val="130000"/>
              </a:lnSpc>
              <a:spcAft>
                <a:spcPts val="400"/>
              </a:spcAft>
            </a:pPr>
            <a:r>
              <a:rPr sz="1400" b="0" i="1">
                <a:solidFill>
                  <a:srgbClr val="4B5563"/>
                </a:solidFill>
                <a:latin typeface="Calibri"/>
              </a:rPr>
              <a:t>Typically, documentation is the last thing written — if it is written at all. In this session, it was woven throughout.</a:t>
            </a:r>
          </a:p>
        </p:txBody>
      </p:sp>
      <p:sp>
        <p:nvSpPr>
          <p:cNvPr id="6" name="Rounded Rectangle 5"/>
          <p:cNvSpPr/>
          <p:nvPr/>
        </p:nvSpPr>
        <p:spPr>
          <a:xfrm>
            <a:off x="548640" y="2331720"/>
            <a:ext cx="3694176" cy="329184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331720"/>
            <a:ext cx="3694176" cy="7315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22960" y="2697480"/>
            <a:ext cx="777240" cy="91440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2880360"/>
            <a:ext cx="59436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3044952"/>
            <a:ext cx="59436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14400" y="3209544"/>
            <a:ext cx="41148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14400" y="3374135"/>
            <a:ext cx="50292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737360" y="2743200"/>
            <a:ext cx="2322576" cy="365760"/>
          </a:xfrm>
          <a:prstGeom prst="rect">
            <a:avLst/>
          </a:prstGeom>
          <a:noFill/>
        </p:spPr>
        <p:txBody>
          <a:bodyPr wrap="square" lIns="45720" rIns="45720" tIns="18288" bIns="18288" anchor="t">
            <a:spAutoFit/>
          </a:bodyPr>
          <a:lstStyle/>
          <a:p>
            <a:pPr algn="l">
              <a:lnSpc>
                <a:spcPct val="100000"/>
              </a:lnSpc>
              <a:spcAft>
                <a:spcPts val="400"/>
              </a:spcAft>
            </a:pPr>
            <a:r>
              <a:rPr sz="1400" b="1" i="0">
                <a:solidFill>
                  <a:srgbClr val="1A2B5E"/>
                </a:solidFill>
                <a:latin typeface="Consolas"/>
              </a:rPr>
              <a:t>README.md</a:t>
            </a:r>
          </a:p>
        </p:txBody>
      </p:sp>
      <p:sp>
        <p:nvSpPr>
          <p:cNvPr id="14" name="TextBox 13"/>
          <p:cNvSpPr txBox="1"/>
          <p:nvPr/>
        </p:nvSpPr>
        <p:spPr>
          <a:xfrm>
            <a:off x="1737360" y="3108960"/>
            <a:ext cx="2322576" cy="457200"/>
          </a:xfrm>
          <a:prstGeom prst="rect">
            <a:avLst/>
          </a:prstGeom>
          <a:noFill/>
        </p:spPr>
        <p:txBody>
          <a:bodyPr wrap="square" lIns="45720" rIns="45720" tIns="18288" bIns="18288" anchor="t">
            <a:spAutoFit/>
          </a:bodyPr>
          <a:lstStyle/>
          <a:p>
            <a:pPr algn="l">
              <a:lnSpc>
                <a:spcPct val="115000"/>
              </a:lnSpc>
              <a:spcAft>
                <a:spcPts val="400"/>
              </a:spcAft>
            </a:pPr>
            <a:r>
              <a:rPr sz="1300" b="0" i="1">
                <a:solidFill>
                  <a:srgbClr val="2B3F76"/>
                </a:solidFill>
                <a:latin typeface="Calibri"/>
              </a:rPr>
              <a:t>Tutorial-quality guide</a:t>
            </a:r>
          </a:p>
        </p:txBody>
      </p:sp>
      <p:sp>
        <p:nvSpPr>
          <p:cNvPr id="15" name="Rectangle 14"/>
          <p:cNvSpPr/>
          <p:nvPr/>
        </p:nvSpPr>
        <p:spPr>
          <a:xfrm>
            <a:off x="822960" y="3886200"/>
            <a:ext cx="3145536"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2960" y="4023360"/>
            <a:ext cx="3145536" cy="274320"/>
          </a:xfrm>
          <a:prstGeom prst="rect">
            <a:avLst/>
          </a:prstGeom>
          <a:noFill/>
        </p:spPr>
        <p:txBody>
          <a:bodyPr wrap="square" lIns="45720" rIns="45720" tIns="18288" bIns="18288" anchor="t">
            <a:spAutoFit/>
          </a:bodyPr>
          <a:lstStyle/>
          <a:p>
            <a:pPr algn="l">
              <a:lnSpc>
                <a:spcPct val="115000"/>
              </a:lnSpc>
              <a:spcAft>
                <a:spcPts val="400"/>
              </a:spcAft>
            </a:pPr>
            <a:r>
              <a:rPr sz="900" b="1" i="0">
                <a:solidFill>
                  <a:srgbClr val="D4A017"/>
                </a:solidFill>
                <a:latin typeface="Calibri"/>
              </a:rPr>
              <a:t>PURPOSE</a:t>
            </a:r>
          </a:p>
        </p:txBody>
      </p:sp>
      <p:sp>
        <p:nvSpPr>
          <p:cNvPr id="17" name="TextBox 16"/>
          <p:cNvSpPr txBox="1"/>
          <p:nvPr/>
        </p:nvSpPr>
        <p:spPr>
          <a:xfrm>
            <a:off x="822960" y="4297680"/>
            <a:ext cx="3145536" cy="1280160"/>
          </a:xfrm>
          <a:prstGeom prst="rect">
            <a:avLst/>
          </a:prstGeom>
          <a:noFill/>
        </p:spPr>
        <p:txBody>
          <a:bodyPr wrap="square" lIns="45720" rIns="45720" tIns="18288" bIns="18288" anchor="t">
            <a:spAutoFit/>
          </a:bodyPr>
          <a:lstStyle/>
          <a:p>
            <a:pPr algn="l">
              <a:lnSpc>
                <a:spcPct val="135000"/>
              </a:lnSpc>
              <a:spcAft>
                <a:spcPts val="400"/>
              </a:spcAft>
            </a:pPr>
            <a:r>
              <a:rPr sz="1200" b="0" i="0">
                <a:solidFill>
                  <a:srgbClr val="1F2937"/>
                </a:solidFill>
                <a:latin typeface="Calibri"/>
              </a:rPr>
              <a:t>Setup and usage for the application, including architecture explanation and design rationale.</a:t>
            </a:r>
          </a:p>
        </p:txBody>
      </p:sp>
      <p:sp>
        <p:nvSpPr>
          <p:cNvPr id="18" name="Rounded Rectangle 17"/>
          <p:cNvSpPr/>
          <p:nvPr/>
        </p:nvSpPr>
        <p:spPr>
          <a:xfrm>
            <a:off x="4311396" y="2331720"/>
            <a:ext cx="3694176" cy="329184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1396" y="2331720"/>
            <a:ext cx="3694176" cy="7315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4585716" y="2697480"/>
            <a:ext cx="777240" cy="91440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77156" y="2880360"/>
            <a:ext cx="59436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677156" y="3044952"/>
            <a:ext cx="59436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677156" y="3209544"/>
            <a:ext cx="41148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677156" y="3374135"/>
            <a:ext cx="50292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500116" y="2743200"/>
            <a:ext cx="2322576" cy="365760"/>
          </a:xfrm>
          <a:prstGeom prst="rect">
            <a:avLst/>
          </a:prstGeom>
          <a:noFill/>
        </p:spPr>
        <p:txBody>
          <a:bodyPr wrap="square" lIns="45720" rIns="45720" tIns="18288" bIns="18288" anchor="t">
            <a:spAutoFit/>
          </a:bodyPr>
          <a:lstStyle/>
          <a:p>
            <a:pPr algn="l">
              <a:lnSpc>
                <a:spcPct val="100000"/>
              </a:lnSpc>
              <a:spcAft>
                <a:spcPts val="400"/>
              </a:spcAft>
            </a:pPr>
            <a:r>
              <a:rPr sz="1400" b="1" i="0">
                <a:solidFill>
                  <a:srgbClr val="1A2B5E"/>
                </a:solidFill>
                <a:latin typeface="Consolas"/>
              </a:rPr>
              <a:t>.gitignore</a:t>
            </a:r>
          </a:p>
        </p:txBody>
      </p:sp>
      <p:sp>
        <p:nvSpPr>
          <p:cNvPr id="26" name="TextBox 25"/>
          <p:cNvSpPr txBox="1"/>
          <p:nvPr/>
        </p:nvSpPr>
        <p:spPr>
          <a:xfrm>
            <a:off x="5500116" y="3108960"/>
            <a:ext cx="2322576" cy="457200"/>
          </a:xfrm>
          <a:prstGeom prst="rect">
            <a:avLst/>
          </a:prstGeom>
          <a:noFill/>
        </p:spPr>
        <p:txBody>
          <a:bodyPr wrap="square" lIns="45720" rIns="45720" tIns="18288" bIns="18288" anchor="t">
            <a:spAutoFit/>
          </a:bodyPr>
          <a:lstStyle/>
          <a:p>
            <a:pPr algn="l">
              <a:lnSpc>
                <a:spcPct val="115000"/>
              </a:lnSpc>
              <a:spcAft>
                <a:spcPts val="400"/>
              </a:spcAft>
            </a:pPr>
            <a:r>
              <a:rPr sz="1300" b="0" i="1">
                <a:solidFill>
                  <a:srgbClr val="2B3F76"/>
                </a:solidFill>
                <a:latin typeface="Calibri"/>
              </a:rPr>
              <a:t>Version-control guardrails</a:t>
            </a:r>
          </a:p>
        </p:txBody>
      </p:sp>
      <p:sp>
        <p:nvSpPr>
          <p:cNvPr id="27" name="Rectangle 26"/>
          <p:cNvSpPr/>
          <p:nvPr/>
        </p:nvSpPr>
        <p:spPr>
          <a:xfrm>
            <a:off x="4585716" y="3886200"/>
            <a:ext cx="3145536"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585716" y="4023360"/>
            <a:ext cx="3145536" cy="274320"/>
          </a:xfrm>
          <a:prstGeom prst="rect">
            <a:avLst/>
          </a:prstGeom>
          <a:noFill/>
        </p:spPr>
        <p:txBody>
          <a:bodyPr wrap="square" lIns="45720" rIns="45720" tIns="18288" bIns="18288" anchor="t">
            <a:spAutoFit/>
          </a:bodyPr>
          <a:lstStyle/>
          <a:p>
            <a:pPr algn="l">
              <a:lnSpc>
                <a:spcPct val="115000"/>
              </a:lnSpc>
              <a:spcAft>
                <a:spcPts val="400"/>
              </a:spcAft>
            </a:pPr>
            <a:r>
              <a:rPr sz="900" b="1" i="0">
                <a:solidFill>
                  <a:srgbClr val="D4A017"/>
                </a:solidFill>
                <a:latin typeface="Calibri"/>
              </a:rPr>
              <a:t>PURPOSE</a:t>
            </a:r>
          </a:p>
        </p:txBody>
      </p:sp>
      <p:sp>
        <p:nvSpPr>
          <p:cNvPr id="29" name="TextBox 28"/>
          <p:cNvSpPr txBox="1"/>
          <p:nvPr/>
        </p:nvSpPr>
        <p:spPr>
          <a:xfrm>
            <a:off x="4585716" y="4297680"/>
            <a:ext cx="3145536" cy="1280160"/>
          </a:xfrm>
          <a:prstGeom prst="rect">
            <a:avLst/>
          </a:prstGeom>
          <a:noFill/>
        </p:spPr>
        <p:txBody>
          <a:bodyPr wrap="square" lIns="45720" rIns="45720" tIns="18288" bIns="18288" anchor="t">
            <a:spAutoFit/>
          </a:bodyPr>
          <a:lstStyle/>
          <a:p>
            <a:pPr algn="l">
              <a:lnSpc>
                <a:spcPct val="135000"/>
              </a:lnSpc>
              <a:spcAft>
                <a:spcPts val="400"/>
              </a:spcAft>
            </a:pPr>
            <a:r>
              <a:rPr sz="1200" b="0" i="0">
                <a:solidFill>
                  <a:srgbClr val="1F2937"/>
                </a:solidFill>
                <a:latin typeface="Calibri"/>
              </a:rPr>
              <a:t>Tells the version-control system what to exclude — API keys, build artifacts, machine-specific settings.</a:t>
            </a:r>
          </a:p>
        </p:txBody>
      </p:sp>
      <p:sp>
        <p:nvSpPr>
          <p:cNvPr id="30" name="Rounded Rectangle 29"/>
          <p:cNvSpPr/>
          <p:nvPr/>
        </p:nvSpPr>
        <p:spPr>
          <a:xfrm>
            <a:off x="8074152" y="2331720"/>
            <a:ext cx="3694176" cy="329184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74152" y="2331720"/>
            <a:ext cx="3694176" cy="7315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8348472" y="2697480"/>
            <a:ext cx="777240" cy="91440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39912" y="2880360"/>
            <a:ext cx="59436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439912" y="3044952"/>
            <a:ext cx="59436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8439912" y="3209544"/>
            <a:ext cx="41148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8439912" y="3374135"/>
            <a:ext cx="502920" cy="3657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262872" y="2743200"/>
            <a:ext cx="2322576" cy="365760"/>
          </a:xfrm>
          <a:prstGeom prst="rect">
            <a:avLst/>
          </a:prstGeom>
          <a:noFill/>
        </p:spPr>
        <p:txBody>
          <a:bodyPr wrap="square" lIns="45720" rIns="45720" tIns="18288" bIns="18288" anchor="t">
            <a:spAutoFit/>
          </a:bodyPr>
          <a:lstStyle/>
          <a:p>
            <a:pPr algn="l">
              <a:lnSpc>
                <a:spcPct val="100000"/>
              </a:lnSpc>
              <a:spcAft>
                <a:spcPts val="400"/>
              </a:spcAft>
            </a:pPr>
            <a:r>
              <a:rPr sz="1400" b="1" i="0">
                <a:solidFill>
                  <a:srgbClr val="1A2B5E"/>
                </a:solidFill>
                <a:latin typeface="Consolas"/>
              </a:rPr>
              <a:t>claude-code-session.log</a:t>
            </a:r>
          </a:p>
        </p:txBody>
      </p:sp>
      <p:sp>
        <p:nvSpPr>
          <p:cNvPr id="38" name="TextBox 37"/>
          <p:cNvSpPr txBox="1"/>
          <p:nvPr/>
        </p:nvSpPr>
        <p:spPr>
          <a:xfrm>
            <a:off x="9262872" y="3108960"/>
            <a:ext cx="2322576" cy="457200"/>
          </a:xfrm>
          <a:prstGeom prst="rect">
            <a:avLst/>
          </a:prstGeom>
          <a:noFill/>
        </p:spPr>
        <p:txBody>
          <a:bodyPr wrap="square" lIns="45720" rIns="45720" tIns="18288" bIns="18288" anchor="t">
            <a:spAutoFit/>
          </a:bodyPr>
          <a:lstStyle/>
          <a:p>
            <a:pPr algn="l">
              <a:lnSpc>
                <a:spcPct val="115000"/>
              </a:lnSpc>
              <a:spcAft>
                <a:spcPts val="400"/>
              </a:spcAft>
            </a:pPr>
            <a:r>
              <a:rPr sz="1300" b="0" i="1">
                <a:solidFill>
                  <a:srgbClr val="2B3F76"/>
                </a:solidFill>
                <a:latin typeface="Calibri"/>
              </a:rPr>
              <a:t>Session telemetry</a:t>
            </a:r>
          </a:p>
        </p:txBody>
      </p:sp>
      <p:sp>
        <p:nvSpPr>
          <p:cNvPr id="39" name="Rectangle 38"/>
          <p:cNvSpPr/>
          <p:nvPr/>
        </p:nvSpPr>
        <p:spPr>
          <a:xfrm>
            <a:off x="8348472" y="3886200"/>
            <a:ext cx="3145536"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348472" y="4023360"/>
            <a:ext cx="3145536" cy="274320"/>
          </a:xfrm>
          <a:prstGeom prst="rect">
            <a:avLst/>
          </a:prstGeom>
          <a:noFill/>
        </p:spPr>
        <p:txBody>
          <a:bodyPr wrap="square" lIns="45720" rIns="45720" tIns="18288" bIns="18288" anchor="t">
            <a:spAutoFit/>
          </a:bodyPr>
          <a:lstStyle/>
          <a:p>
            <a:pPr algn="l">
              <a:lnSpc>
                <a:spcPct val="115000"/>
              </a:lnSpc>
              <a:spcAft>
                <a:spcPts val="400"/>
              </a:spcAft>
            </a:pPr>
            <a:r>
              <a:rPr sz="900" b="1" i="0">
                <a:solidFill>
                  <a:srgbClr val="D4A017"/>
                </a:solidFill>
                <a:latin typeface="Calibri"/>
              </a:rPr>
              <a:t>PURPOSE</a:t>
            </a:r>
          </a:p>
        </p:txBody>
      </p:sp>
      <p:sp>
        <p:nvSpPr>
          <p:cNvPr id="41" name="TextBox 40"/>
          <p:cNvSpPr txBox="1"/>
          <p:nvPr/>
        </p:nvSpPr>
        <p:spPr>
          <a:xfrm>
            <a:off x="8348472" y="4297680"/>
            <a:ext cx="3145536" cy="1280160"/>
          </a:xfrm>
          <a:prstGeom prst="rect">
            <a:avLst/>
          </a:prstGeom>
          <a:noFill/>
        </p:spPr>
        <p:txBody>
          <a:bodyPr wrap="square" lIns="45720" rIns="45720" tIns="18288" bIns="18288" anchor="t">
            <a:spAutoFit/>
          </a:bodyPr>
          <a:lstStyle/>
          <a:p>
            <a:pPr algn="l">
              <a:lnSpc>
                <a:spcPct val="135000"/>
              </a:lnSpc>
              <a:spcAft>
                <a:spcPts val="400"/>
              </a:spcAft>
            </a:pPr>
            <a:r>
              <a:rPr sz="1200" b="0" i="0">
                <a:solidFill>
                  <a:srgbClr val="1F2937"/>
                </a:solidFill>
                <a:latin typeface="Calibri"/>
              </a:rPr>
              <a:t>Running log of the development session — decisions made, files created, issues resolved — for reference.</a:t>
            </a:r>
          </a:p>
        </p:txBody>
      </p:sp>
      <p:sp>
        <p:nvSpPr>
          <p:cNvPr id="42" name="Rounded Rectangle 41"/>
          <p:cNvSpPr/>
          <p:nvPr/>
        </p:nvSpPr>
        <p:spPr>
          <a:xfrm>
            <a:off x="548640" y="5852160"/>
            <a:ext cx="11091672" cy="45720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925312"/>
            <a:ext cx="10607040" cy="329184"/>
          </a:xfrm>
          <a:prstGeom prst="rect">
            <a:avLst/>
          </a:prstGeom>
          <a:noFill/>
        </p:spPr>
        <p:txBody>
          <a:bodyPr wrap="square" lIns="45720" rIns="45720" tIns="18288" bIns="18288" anchor="t">
            <a:spAutoFit/>
          </a:bodyPr>
          <a:lstStyle/>
          <a:p>
            <a:pPr algn="l">
              <a:lnSpc>
                <a:spcPct val="115000"/>
              </a:lnSpc>
              <a:spcAft>
                <a:spcPts val="400"/>
              </a:spcAft>
            </a:pPr>
            <a:r>
              <a:rPr sz="1200" b="1" i="1">
                <a:solidFill>
                  <a:srgbClr val="FFFFFF"/>
                </a:solidFill>
                <a:latin typeface="Calibri"/>
              </a:rPr>
              <a:t>The README explained not just how to run the app, but why it works the way it does — making it a learning resource.</a:t>
            </a:r>
          </a:p>
        </p:txBody>
      </p:sp>
      <p:sp>
        <p:nvSpPr>
          <p:cNvPr id="44" name="Rectangle 43"/>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46" name="TextBox 45"/>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THE FINISHED APP</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The Result</a:t>
            </a:r>
          </a:p>
        </p:txBody>
      </p:sp>
      <p:sp>
        <p:nvSpPr>
          <p:cNvPr id="5" name="Rounded Rectangle 4"/>
          <p:cNvSpPr/>
          <p:nvPr/>
        </p:nvSpPr>
        <p:spPr>
          <a:xfrm>
            <a:off x="548640" y="1554480"/>
            <a:ext cx="11091672" cy="416052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11091672" cy="411480"/>
          </a:xfrm>
          <a:prstGeom prst="rect">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31520" y="1673352"/>
            <a:ext cx="164592" cy="164592"/>
          </a:xfrm>
          <a:prstGeom prst="ellipse">
            <a:avLst/>
          </a:prstGeom>
          <a:solidFill>
            <a:srgbClr val="E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87552" y="1673352"/>
            <a:ext cx="164592" cy="164592"/>
          </a:xfrm>
          <a:prstGeom prst="ellipse">
            <a:avLst/>
          </a:prstGeom>
          <a:solidFill>
            <a:srgbClr val="E0C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43584" y="1673352"/>
            <a:ext cx="164592" cy="164592"/>
          </a:xfrm>
          <a:prstGeom prst="ellipse">
            <a:avLst/>
          </a:prstGeom>
          <a:solidFill>
            <a:srgbClr val="70C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45920"/>
            <a:ext cx="11091672" cy="274320"/>
          </a:xfrm>
          <a:prstGeom prst="rect">
            <a:avLst/>
          </a:prstGeom>
          <a:noFill/>
        </p:spPr>
        <p:txBody>
          <a:bodyPr wrap="square" lIns="45720" rIns="45720" tIns="18288" bIns="18288" anchor="t">
            <a:spAutoFit/>
          </a:bodyPr>
          <a:lstStyle/>
          <a:p>
            <a:pPr algn="ctr">
              <a:lnSpc>
                <a:spcPct val="115000"/>
              </a:lnSpc>
              <a:spcAft>
                <a:spcPts val="400"/>
              </a:spcAft>
            </a:pPr>
            <a:r>
              <a:rPr sz="1000" b="0" i="0">
                <a:solidFill>
                  <a:srgbClr val="6B7280"/>
                </a:solidFill>
                <a:latin typeface="Calibri"/>
              </a:rPr>
              <a:t>PDF Marketing Summarizer  ·  localhost:4200</a:t>
            </a:r>
          </a:p>
        </p:txBody>
      </p:sp>
      <p:sp>
        <p:nvSpPr>
          <p:cNvPr id="11" name="Rectangle 10"/>
          <p:cNvSpPr/>
          <p:nvPr/>
        </p:nvSpPr>
        <p:spPr>
          <a:xfrm>
            <a:off x="548640" y="1965960"/>
            <a:ext cx="3383280" cy="3749040"/>
          </a:xfrm>
          <a:prstGeom prst="rect">
            <a:avLst/>
          </a:prstGeom>
          <a:solidFill>
            <a:srgbClr val="FAF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922776" y="1965960"/>
            <a:ext cx="9144" cy="374904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2148840"/>
            <a:ext cx="2926080" cy="320040"/>
          </a:xfrm>
          <a:prstGeom prst="rect">
            <a:avLst/>
          </a:prstGeom>
          <a:noFill/>
        </p:spPr>
        <p:txBody>
          <a:bodyPr wrap="square" lIns="45720" rIns="45720" tIns="18288" bIns="18288" anchor="t">
            <a:spAutoFit/>
          </a:bodyPr>
          <a:lstStyle/>
          <a:p>
            <a:pPr algn="l">
              <a:lnSpc>
                <a:spcPct val="115000"/>
              </a:lnSpc>
              <a:spcAft>
                <a:spcPts val="400"/>
              </a:spcAft>
            </a:pPr>
            <a:r>
              <a:rPr sz="1300" b="1" i="0">
                <a:solidFill>
                  <a:srgbClr val="1A2B5E"/>
                </a:solidFill>
                <a:latin typeface="Calibri"/>
              </a:rPr>
              <a:t>Configuration</a:t>
            </a:r>
          </a:p>
        </p:txBody>
      </p:sp>
      <p:sp>
        <p:nvSpPr>
          <p:cNvPr id="14" name="TextBox 13"/>
          <p:cNvSpPr txBox="1"/>
          <p:nvPr/>
        </p:nvSpPr>
        <p:spPr>
          <a:xfrm>
            <a:off x="777240" y="2560320"/>
            <a:ext cx="2926080" cy="228600"/>
          </a:xfrm>
          <a:prstGeom prst="rect">
            <a:avLst/>
          </a:prstGeom>
          <a:noFill/>
        </p:spPr>
        <p:txBody>
          <a:bodyPr wrap="square" lIns="45720" rIns="45720" tIns="18288" bIns="18288" anchor="t">
            <a:spAutoFit/>
          </a:bodyPr>
          <a:lstStyle/>
          <a:p>
            <a:pPr algn="l">
              <a:lnSpc>
                <a:spcPct val="115000"/>
              </a:lnSpc>
              <a:spcAft>
                <a:spcPts val="400"/>
              </a:spcAft>
            </a:pPr>
            <a:r>
              <a:rPr sz="900" b="1" i="0">
                <a:solidFill>
                  <a:srgbClr val="6B7280"/>
                </a:solidFill>
                <a:latin typeface="Calibri"/>
              </a:rPr>
              <a:t>AI PROVIDER</a:t>
            </a:r>
          </a:p>
        </p:txBody>
      </p:sp>
      <p:sp>
        <p:nvSpPr>
          <p:cNvPr id="15" name="Rounded Rectangle 14"/>
          <p:cNvSpPr/>
          <p:nvPr/>
        </p:nvSpPr>
        <p:spPr>
          <a:xfrm>
            <a:off x="777240" y="2788920"/>
            <a:ext cx="2926080" cy="292608"/>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816352"/>
            <a:ext cx="2834640" cy="274320"/>
          </a:xfrm>
          <a:prstGeom prst="rect">
            <a:avLst/>
          </a:prstGeom>
          <a:noFill/>
        </p:spPr>
        <p:txBody>
          <a:bodyPr wrap="square" lIns="45720" rIns="45720" tIns="18288" bIns="18288" anchor="t">
            <a:spAutoFit/>
          </a:bodyPr>
          <a:lstStyle/>
          <a:p>
            <a:pPr algn="l">
              <a:lnSpc>
                <a:spcPct val="115000"/>
              </a:lnSpc>
              <a:spcAft>
                <a:spcPts val="400"/>
              </a:spcAft>
            </a:pPr>
            <a:r>
              <a:rPr sz="1000" b="0" i="0">
                <a:solidFill>
                  <a:srgbClr val="1F2937"/>
                </a:solidFill>
                <a:latin typeface="Calibri"/>
              </a:rPr>
              <a:t>OpenAI</a:t>
            </a:r>
          </a:p>
        </p:txBody>
      </p:sp>
      <p:sp>
        <p:nvSpPr>
          <p:cNvPr id="17" name="TextBox 16"/>
          <p:cNvSpPr txBox="1"/>
          <p:nvPr/>
        </p:nvSpPr>
        <p:spPr>
          <a:xfrm>
            <a:off x="777240" y="3154680"/>
            <a:ext cx="2926080" cy="228600"/>
          </a:xfrm>
          <a:prstGeom prst="rect">
            <a:avLst/>
          </a:prstGeom>
          <a:noFill/>
        </p:spPr>
        <p:txBody>
          <a:bodyPr wrap="square" lIns="45720" rIns="45720" tIns="18288" bIns="18288" anchor="t">
            <a:spAutoFit/>
          </a:bodyPr>
          <a:lstStyle/>
          <a:p>
            <a:pPr algn="l">
              <a:lnSpc>
                <a:spcPct val="115000"/>
              </a:lnSpc>
              <a:spcAft>
                <a:spcPts val="400"/>
              </a:spcAft>
            </a:pPr>
            <a:r>
              <a:rPr sz="900" b="1" i="0">
                <a:solidFill>
                  <a:srgbClr val="6B7280"/>
                </a:solidFill>
                <a:latin typeface="Calibri"/>
              </a:rPr>
              <a:t>MODEL</a:t>
            </a:r>
          </a:p>
        </p:txBody>
      </p:sp>
      <p:sp>
        <p:nvSpPr>
          <p:cNvPr id="18" name="Rounded Rectangle 17"/>
          <p:cNvSpPr/>
          <p:nvPr/>
        </p:nvSpPr>
        <p:spPr>
          <a:xfrm>
            <a:off x="777240" y="3383280"/>
            <a:ext cx="2926080" cy="292608"/>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410712"/>
            <a:ext cx="2834640" cy="274320"/>
          </a:xfrm>
          <a:prstGeom prst="rect">
            <a:avLst/>
          </a:prstGeom>
          <a:noFill/>
        </p:spPr>
        <p:txBody>
          <a:bodyPr wrap="square" lIns="45720" rIns="45720" tIns="18288" bIns="18288" anchor="t">
            <a:spAutoFit/>
          </a:bodyPr>
          <a:lstStyle/>
          <a:p>
            <a:pPr algn="l">
              <a:lnSpc>
                <a:spcPct val="115000"/>
              </a:lnSpc>
              <a:spcAft>
                <a:spcPts val="400"/>
              </a:spcAft>
            </a:pPr>
            <a:r>
              <a:rPr sz="1000" b="0" i="0">
                <a:solidFill>
                  <a:srgbClr val="1F2937"/>
                </a:solidFill>
                <a:latin typeface="Calibri"/>
              </a:rPr>
              <a:t>gpt-4o</a:t>
            </a:r>
          </a:p>
        </p:txBody>
      </p:sp>
      <p:sp>
        <p:nvSpPr>
          <p:cNvPr id="20" name="TextBox 19"/>
          <p:cNvSpPr txBox="1"/>
          <p:nvPr/>
        </p:nvSpPr>
        <p:spPr>
          <a:xfrm>
            <a:off x="777240" y="3749040"/>
            <a:ext cx="2926080" cy="228600"/>
          </a:xfrm>
          <a:prstGeom prst="rect">
            <a:avLst/>
          </a:prstGeom>
          <a:noFill/>
        </p:spPr>
        <p:txBody>
          <a:bodyPr wrap="square" lIns="45720" rIns="45720" tIns="18288" bIns="18288" anchor="t">
            <a:spAutoFit/>
          </a:bodyPr>
          <a:lstStyle/>
          <a:p>
            <a:pPr algn="l">
              <a:lnSpc>
                <a:spcPct val="115000"/>
              </a:lnSpc>
              <a:spcAft>
                <a:spcPts val="400"/>
              </a:spcAft>
            </a:pPr>
            <a:r>
              <a:rPr sz="900" b="1" i="0">
                <a:solidFill>
                  <a:srgbClr val="6B7280"/>
                </a:solidFill>
                <a:latin typeface="Calibri"/>
              </a:rPr>
              <a:t>API KEY</a:t>
            </a:r>
          </a:p>
        </p:txBody>
      </p:sp>
      <p:sp>
        <p:nvSpPr>
          <p:cNvPr id="21" name="Rounded Rectangle 20"/>
          <p:cNvSpPr/>
          <p:nvPr/>
        </p:nvSpPr>
        <p:spPr>
          <a:xfrm>
            <a:off x="777240" y="3977640"/>
            <a:ext cx="2926080" cy="292608"/>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005072"/>
            <a:ext cx="2834640" cy="274320"/>
          </a:xfrm>
          <a:prstGeom prst="rect">
            <a:avLst/>
          </a:prstGeom>
          <a:noFill/>
        </p:spPr>
        <p:txBody>
          <a:bodyPr wrap="square" lIns="45720" rIns="45720" tIns="18288" bIns="18288" anchor="t">
            <a:spAutoFit/>
          </a:bodyPr>
          <a:lstStyle/>
          <a:p>
            <a:pPr algn="l">
              <a:lnSpc>
                <a:spcPct val="115000"/>
              </a:lnSpc>
              <a:spcAft>
                <a:spcPts val="400"/>
              </a:spcAft>
            </a:pPr>
            <a:r>
              <a:rPr sz="1000" b="0" i="0">
                <a:solidFill>
                  <a:srgbClr val="1F2937"/>
                </a:solidFill>
                <a:latin typeface="Calibri"/>
              </a:rPr>
              <a:t>sk-••••••••••••••••••••</a:t>
            </a:r>
          </a:p>
        </p:txBody>
      </p:sp>
      <p:sp>
        <p:nvSpPr>
          <p:cNvPr id="23" name="TextBox 22"/>
          <p:cNvSpPr txBox="1"/>
          <p:nvPr/>
        </p:nvSpPr>
        <p:spPr>
          <a:xfrm>
            <a:off x="777240" y="4434840"/>
            <a:ext cx="2926080" cy="228600"/>
          </a:xfrm>
          <a:prstGeom prst="rect">
            <a:avLst/>
          </a:prstGeom>
          <a:noFill/>
        </p:spPr>
        <p:txBody>
          <a:bodyPr wrap="square" lIns="45720" rIns="45720" tIns="18288" bIns="18288" anchor="t">
            <a:spAutoFit/>
          </a:bodyPr>
          <a:lstStyle/>
          <a:p>
            <a:pPr algn="l">
              <a:lnSpc>
                <a:spcPct val="115000"/>
              </a:lnSpc>
              <a:spcAft>
                <a:spcPts val="400"/>
              </a:spcAft>
            </a:pPr>
            <a:r>
              <a:rPr sz="900" b="1" i="0">
                <a:solidFill>
                  <a:srgbClr val="6B7280"/>
                </a:solidFill>
                <a:latin typeface="Calibri"/>
              </a:rPr>
              <a:t>PDF DOCUMENT</a:t>
            </a:r>
          </a:p>
        </p:txBody>
      </p:sp>
      <p:sp>
        <p:nvSpPr>
          <p:cNvPr id="24" name="Rounded Rectangle 23"/>
          <p:cNvSpPr/>
          <p:nvPr/>
        </p:nvSpPr>
        <p:spPr>
          <a:xfrm>
            <a:off x="777240" y="4709160"/>
            <a:ext cx="2926080" cy="960120"/>
          </a:xfrm>
          <a:prstGeom prst="roundRect">
            <a:avLst>
              <a:gd name="adj" fmla="val 6000"/>
            </a:avLst>
          </a:prstGeom>
          <a:solidFill>
            <a:srgbClr val="E3EAF6"/>
          </a:solidFill>
          <a:ln w="9525">
            <a:solidFill>
              <a:srgbClr val="1A2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60120" y="4937760"/>
            <a:ext cx="365760" cy="365760"/>
          </a:xfrm>
          <a:prstGeom prst="ellipse">
            <a:avLst/>
          </a:prstGeom>
          <a:solidFill>
            <a:srgbClr val="22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965192"/>
            <a:ext cx="365760" cy="320040"/>
          </a:xfrm>
          <a:prstGeom prst="rect">
            <a:avLst/>
          </a:prstGeom>
          <a:noFill/>
        </p:spPr>
        <p:txBody>
          <a:bodyPr wrap="square" lIns="45720" rIns="45720" tIns="18288" bIns="18288" anchor="t">
            <a:spAutoFit/>
          </a:bodyPr>
          <a:lstStyle/>
          <a:p>
            <a:pPr algn="ctr">
              <a:lnSpc>
                <a:spcPct val="115000"/>
              </a:lnSpc>
              <a:spcAft>
                <a:spcPts val="400"/>
              </a:spcAft>
            </a:pPr>
            <a:r>
              <a:rPr sz="1600" b="1" i="0">
                <a:solidFill>
                  <a:srgbClr val="FFFFFF"/>
                </a:solidFill>
                <a:latin typeface="Calibri"/>
              </a:rPr>
              <a:t>✓</a:t>
            </a:r>
          </a:p>
        </p:txBody>
      </p:sp>
      <p:sp>
        <p:nvSpPr>
          <p:cNvPr id="27" name="TextBox 26"/>
          <p:cNvSpPr txBox="1"/>
          <p:nvPr/>
        </p:nvSpPr>
        <p:spPr>
          <a:xfrm>
            <a:off x="1417320" y="4937760"/>
            <a:ext cx="2286000" cy="27432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1A2B5E"/>
                </a:solidFill>
                <a:latin typeface="Calibri"/>
              </a:rPr>
              <a:t>vet-test-protocol.pdf</a:t>
            </a:r>
          </a:p>
        </p:txBody>
      </p:sp>
      <p:sp>
        <p:nvSpPr>
          <p:cNvPr id="28" name="TextBox 27"/>
          <p:cNvSpPr txBox="1"/>
          <p:nvPr/>
        </p:nvSpPr>
        <p:spPr>
          <a:xfrm>
            <a:off x="1417320" y="5212080"/>
            <a:ext cx="2286000" cy="274320"/>
          </a:xfrm>
          <a:prstGeom prst="rect">
            <a:avLst/>
          </a:prstGeom>
          <a:noFill/>
        </p:spPr>
        <p:txBody>
          <a:bodyPr wrap="square" lIns="45720" rIns="45720" tIns="18288" bIns="18288" anchor="t">
            <a:spAutoFit/>
          </a:bodyPr>
          <a:lstStyle/>
          <a:p>
            <a:pPr algn="l">
              <a:lnSpc>
                <a:spcPct val="115000"/>
              </a:lnSpc>
              <a:spcAft>
                <a:spcPts val="400"/>
              </a:spcAft>
            </a:pPr>
            <a:r>
              <a:rPr sz="900" b="0" i="1">
                <a:solidFill>
                  <a:srgbClr val="6B7280"/>
                </a:solidFill>
                <a:latin typeface="Calibri"/>
              </a:rPr>
              <a:t>Uploaded · 12 pages</a:t>
            </a:r>
          </a:p>
        </p:txBody>
      </p:sp>
      <p:sp>
        <p:nvSpPr>
          <p:cNvPr id="29" name="Rectangle 28"/>
          <p:cNvSpPr/>
          <p:nvPr/>
        </p:nvSpPr>
        <p:spPr>
          <a:xfrm>
            <a:off x="3931920" y="1965960"/>
            <a:ext cx="7708392"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4297680" y="2240280"/>
            <a:ext cx="6976872" cy="269748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7680" y="2240280"/>
            <a:ext cx="73152" cy="2697480"/>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480560" y="2377440"/>
            <a:ext cx="6702552" cy="365760"/>
          </a:xfrm>
          <a:prstGeom prst="rect">
            <a:avLst/>
          </a:prstGeom>
          <a:noFill/>
        </p:spPr>
        <p:txBody>
          <a:bodyPr wrap="square" lIns="45720" rIns="45720" tIns="18288" bIns="18288" anchor="t">
            <a:spAutoFit/>
          </a:bodyPr>
          <a:lstStyle/>
          <a:p>
            <a:pPr algn="l">
              <a:lnSpc>
                <a:spcPct val="115000"/>
              </a:lnSpc>
              <a:spcAft>
                <a:spcPts val="400"/>
              </a:spcAft>
            </a:pPr>
            <a:r>
              <a:rPr sz="1400" b="1" i="0">
                <a:solidFill>
                  <a:srgbClr val="1A2B5E"/>
                </a:solidFill>
                <a:latin typeface="Calibri"/>
              </a:rPr>
              <a:t>Marketing Summary — Veterinary Diagnostic Test</a:t>
            </a:r>
          </a:p>
        </p:txBody>
      </p:sp>
      <p:sp>
        <p:nvSpPr>
          <p:cNvPr id="33" name="TextBox 32"/>
          <p:cNvSpPr txBox="1"/>
          <p:nvPr/>
        </p:nvSpPr>
        <p:spPr>
          <a:xfrm>
            <a:off x="4480560" y="2788920"/>
            <a:ext cx="6702552" cy="2057400"/>
          </a:xfrm>
          <a:prstGeom prst="rect">
            <a:avLst/>
          </a:prstGeom>
          <a:noFill/>
        </p:spPr>
        <p:txBody>
          <a:bodyPr wrap="square" lIns="45720" rIns="45720" tIns="18288" bIns="18288" anchor="t">
            <a:spAutoFit/>
          </a:bodyPr>
          <a:lstStyle/>
          <a:p>
            <a:pPr algn="l">
              <a:lnSpc>
                <a:spcPct val="140000"/>
              </a:lnSpc>
              <a:spcAft>
                <a:spcPts val="400"/>
              </a:spcAft>
            </a:pPr>
            <a:r>
              <a:rPr sz="1200" b="1" i="0">
                <a:solidFill>
                  <a:srgbClr val="1F2937"/>
                </a:solidFill>
                <a:latin typeface="Calibri"/>
              </a:rPr>
              <a:t>Purpose. </a:t>
            </a:r>
            <a:r>
              <a:rPr sz="1200" b="0" i="0">
                <a:solidFill>
                  <a:srgbClr val="1F2937"/>
                </a:solidFill>
                <a:latin typeface="Calibri"/>
              </a:rPr>
              <a:t>Rapid in-clinic detection of canine parvovirus antigen, supporting same-day treatment decisions.</a:t>
            </a:r>
          </a:p>
          <a:p>
            <a:pPr algn="l">
              <a:lnSpc>
                <a:spcPct val="140000"/>
              </a:lnSpc>
              <a:spcAft>
                <a:spcPts val="400"/>
              </a:spcAft>
            </a:pPr>
            <a:r>
              <a:rPr sz="1200" b="1" i="0">
                <a:solidFill>
                  <a:srgbClr val="1F2937"/>
                </a:solidFill>
                <a:latin typeface="Calibri"/>
              </a:rPr>
              <a:t>Clinical applications.</a:t>
            </a:r>
          </a:p>
          <a:p>
            <a:pPr algn="l">
              <a:lnSpc>
                <a:spcPct val="140000"/>
              </a:lnSpc>
              <a:spcAft>
                <a:spcPts val="400"/>
              </a:spcAft>
            </a:pPr>
            <a:r>
              <a:rPr sz="1200" b="0" i="0">
                <a:solidFill>
                  <a:srgbClr val="1F2937"/>
                </a:solidFill>
                <a:latin typeface="Calibri"/>
              </a:rPr>
              <a:t>Screening puppies presenting with acute GI signs; outbreak triage in shelters; verifying convalescent recovery.</a:t>
            </a:r>
          </a:p>
          <a:p>
            <a:pPr algn="l">
              <a:lnSpc>
                <a:spcPct val="140000"/>
              </a:lnSpc>
              <a:spcAft>
                <a:spcPts val="400"/>
              </a:spcAft>
            </a:pPr>
            <a:r>
              <a:rPr sz="1200" b="1" i="0">
                <a:solidFill>
                  <a:srgbClr val="1F2937"/>
                </a:solidFill>
                <a:latin typeface="Calibri"/>
              </a:rPr>
              <a:t>Key advantages.</a:t>
            </a:r>
          </a:p>
          <a:p>
            <a:pPr algn="l">
              <a:lnSpc>
                <a:spcPct val="140000"/>
              </a:lnSpc>
              <a:spcAft>
                <a:spcPts val="400"/>
              </a:spcAft>
            </a:pPr>
            <a:r>
              <a:rPr sz="1200" b="0" i="0">
                <a:solidFill>
                  <a:srgbClr val="1F2937"/>
                </a:solidFill>
                <a:latin typeface="Calibri"/>
              </a:rPr>
              <a:t>Result in under 10 minutes; no specialized equipment required; sensitivity comparable to lab-based PCR.</a:t>
            </a:r>
          </a:p>
        </p:txBody>
      </p:sp>
      <p:sp>
        <p:nvSpPr>
          <p:cNvPr id="34" name="Rounded Rectangle 33"/>
          <p:cNvSpPr/>
          <p:nvPr/>
        </p:nvSpPr>
        <p:spPr>
          <a:xfrm>
            <a:off x="4297680" y="5074920"/>
            <a:ext cx="6976872" cy="45720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80560" y="5166360"/>
            <a:ext cx="6702552" cy="320040"/>
          </a:xfrm>
          <a:prstGeom prst="rect">
            <a:avLst/>
          </a:prstGeom>
          <a:noFill/>
        </p:spPr>
        <p:txBody>
          <a:bodyPr wrap="square" lIns="45720" rIns="45720" tIns="18288" bIns="18288" anchor="t">
            <a:spAutoFit/>
          </a:bodyPr>
          <a:lstStyle/>
          <a:p>
            <a:pPr algn="l">
              <a:lnSpc>
                <a:spcPct val="115000"/>
              </a:lnSpc>
              <a:spcAft>
                <a:spcPts val="400"/>
              </a:spcAft>
            </a:pPr>
            <a:r>
              <a:rPr sz="1200" b="0" i="1">
                <a:solidFill>
                  <a:srgbClr val="FFFFFF"/>
                </a:solidFill>
                <a:latin typeface="Calibri"/>
              </a:rPr>
              <a:t>Can you make the language more focused on shelter operations?</a:t>
            </a:r>
          </a:p>
        </p:txBody>
      </p:sp>
      <p:sp>
        <p:nvSpPr>
          <p:cNvPr id="36" name="Rounded Rectangle 35"/>
          <p:cNvSpPr/>
          <p:nvPr/>
        </p:nvSpPr>
        <p:spPr>
          <a:xfrm>
            <a:off x="4297680" y="5166360"/>
            <a:ext cx="6976872" cy="41148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34840" y="5257800"/>
            <a:ext cx="6702552" cy="274320"/>
          </a:xfrm>
          <a:prstGeom prst="rect">
            <a:avLst/>
          </a:prstGeom>
          <a:noFill/>
        </p:spPr>
        <p:txBody>
          <a:bodyPr wrap="square" lIns="45720" rIns="45720" tIns="18288" bIns="18288" anchor="t">
            <a:spAutoFit/>
          </a:bodyPr>
          <a:lstStyle/>
          <a:p>
            <a:pPr algn="l">
              <a:lnSpc>
                <a:spcPct val="115000"/>
              </a:lnSpc>
              <a:spcAft>
                <a:spcPts val="400"/>
              </a:spcAft>
            </a:pPr>
            <a:r>
              <a:rPr sz="1100" b="0" i="1">
                <a:solidFill>
                  <a:srgbClr val="6B7280"/>
                </a:solidFill>
                <a:latin typeface="Calibri"/>
              </a:rPr>
              <a:t>Type a message…</a:t>
            </a:r>
          </a:p>
        </p:txBody>
      </p:sp>
      <p:sp>
        <p:nvSpPr>
          <p:cNvPr id="38" name="Rounded Rectangle 37"/>
          <p:cNvSpPr/>
          <p:nvPr/>
        </p:nvSpPr>
        <p:spPr>
          <a:xfrm>
            <a:off x="10771632" y="5212080"/>
            <a:ext cx="411480" cy="320040"/>
          </a:xfrm>
          <a:prstGeom prst="roundRect">
            <a:avLst>
              <a:gd name="adj" fmla="val 6000"/>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771632" y="5239512"/>
            <a:ext cx="411480" cy="274320"/>
          </a:xfrm>
          <a:prstGeom prst="rect">
            <a:avLst/>
          </a:prstGeom>
          <a:noFill/>
        </p:spPr>
        <p:txBody>
          <a:bodyPr wrap="square" lIns="45720" rIns="45720" tIns="18288" bIns="18288" anchor="t">
            <a:spAutoFit/>
          </a:bodyPr>
          <a:lstStyle/>
          <a:p>
            <a:pPr algn="ctr">
              <a:lnSpc>
                <a:spcPct val="115000"/>
              </a:lnSpc>
              <a:spcAft>
                <a:spcPts val="400"/>
              </a:spcAft>
            </a:pPr>
            <a:r>
              <a:rPr sz="1300" b="1" i="0">
                <a:solidFill>
                  <a:srgbClr val="121E42"/>
                </a:solidFill>
                <a:latin typeface="Calibri"/>
              </a:rPr>
              <a:t>▶</a:t>
            </a:r>
          </a:p>
        </p:txBody>
      </p:sp>
      <p:sp>
        <p:nvSpPr>
          <p:cNvPr id="40" name="TextBox 39"/>
          <p:cNvSpPr txBox="1"/>
          <p:nvPr/>
        </p:nvSpPr>
        <p:spPr>
          <a:xfrm>
            <a:off x="548640" y="5852160"/>
            <a:ext cx="11064240" cy="365760"/>
          </a:xfrm>
          <a:prstGeom prst="rect">
            <a:avLst/>
          </a:prstGeom>
          <a:noFill/>
        </p:spPr>
        <p:txBody>
          <a:bodyPr wrap="square" lIns="45720" rIns="45720" tIns="18288" bIns="18288" anchor="t">
            <a:spAutoFit/>
          </a:bodyPr>
          <a:lstStyle/>
          <a:p>
            <a:pPr algn="ctr">
              <a:lnSpc>
                <a:spcPct val="115000"/>
              </a:lnSpc>
              <a:spcAft>
                <a:spcPts val="400"/>
              </a:spcAft>
            </a:pPr>
            <a:r>
              <a:rPr sz="1200" b="1" i="1">
                <a:solidFill>
                  <a:srgbClr val="1A2B5E"/>
                </a:solidFill>
                <a:latin typeface="Calibri"/>
              </a:rPr>
              <a:t>Built in a single session.  ·  Zero prior code.  ·  Two AI APIs.  ·  Full markdown rendering.  ·  Corporate-network-compatible.</a:t>
            </a:r>
          </a:p>
        </p:txBody>
      </p:sp>
      <p:sp>
        <p:nvSpPr>
          <p:cNvPr id="41" name="TextBox 40"/>
          <p:cNvSpPr txBox="1"/>
          <p:nvPr/>
        </p:nvSpPr>
        <p:spPr>
          <a:xfrm>
            <a:off x="548640" y="6172200"/>
            <a:ext cx="11064240" cy="274320"/>
          </a:xfrm>
          <a:prstGeom prst="rect">
            <a:avLst/>
          </a:prstGeom>
          <a:noFill/>
        </p:spPr>
        <p:txBody>
          <a:bodyPr wrap="square" lIns="45720" rIns="45720" tIns="18288" bIns="18288" anchor="t">
            <a:spAutoFit/>
          </a:bodyPr>
          <a:lstStyle/>
          <a:p>
            <a:pPr algn="ctr">
              <a:lnSpc>
                <a:spcPct val="115000"/>
              </a:lnSpc>
              <a:spcAft>
                <a:spcPts val="400"/>
              </a:spcAft>
            </a:pPr>
            <a:r>
              <a:rPr sz="1100" b="0" i="1">
                <a:solidFill>
                  <a:srgbClr val="6B7280"/>
                </a:solidFill>
                <a:latin typeface="Calibri"/>
              </a:rPr>
              <a:t>(Live demo follows — speaker will show the running application.)</a:t>
            </a:r>
          </a:p>
        </p:txBody>
      </p:sp>
      <p:sp>
        <p:nvSpPr>
          <p:cNvPr id="42" name="Rectangle 41"/>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44" name="TextBox 43"/>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WHAT MADE IT WORK</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Key Factors in a Successful Vibe Coding Session</a:t>
            </a:r>
          </a:p>
        </p:txBody>
      </p:sp>
      <p:sp>
        <p:nvSpPr>
          <p:cNvPr id="5" name="Rounded Rectangle 4"/>
          <p:cNvSpPr/>
          <p:nvPr/>
        </p:nvSpPr>
        <p:spPr>
          <a:xfrm>
            <a:off x="548640" y="1691640"/>
            <a:ext cx="11091672" cy="804672"/>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91440" cy="80467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41248" y="1837944"/>
            <a:ext cx="502920" cy="50292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883664"/>
            <a:ext cx="502920" cy="411480"/>
          </a:xfrm>
          <a:prstGeom prst="rect">
            <a:avLst/>
          </a:prstGeom>
          <a:noFill/>
        </p:spPr>
        <p:txBody>
          <a:bodyPr wrap="square" lIns="45720" rIns="45720" tIns="18288" bIns="18288" anchor="t">
            <a:spAutoFit/>
          </a:bodyPr>
          <a:lstStyle/>
          <a:p>
            <a:pPr algn="ctr">
              <a:lnSpc>
                <a:spcPct val="115000"/>
              </a:lnSpc>
              <a:spcAft>
                <a:spcPts val="400"/>
              </a:spcAft>
            </a:pPr>
            <a:r>
              <a:rPr sz="1800" b="1" i="0">
                <a:solidFill>
                  <a:srgbClr val="D4A017"/>
                </a:solidFill>
                <a:latin typeface="Calibri"/>
              </a:rPr>
              <a:t>1</a:t>
            </a:r>
          </a:p>
        </p:txBody>
      </p:sp>
      <p:sp>
        <p:nvSpPr>
          <p:cNvPr id="9" name="TextBox 8"/>
          <p:cNvSpPr txBox="1"/>
          <p:nvPr/>
        </p:nvSpPr>
        <p:spPr>
          <a:xfrm>
            <a:off x="1508760" y="1783080"/>
            <a:ext cx="3200400" cy="640080"/>
          </a:xfrm>
          <a:prstGeom prst="rect">
            <a:avLst/>
          </a:prstGeom>
          <a:noFill/>
        </p:spPr>
        <p:txBody>
          <a:bodyPr wrap="square" lIns="45720" rIns="45720" tIns="18288" bIns="18288" anchor="ctr">
            <a:spAutoFit/>
          </a:bodyPr>
          <a:lstStyle/>
          <a:p>
            <a:pPr algn="l">
              <a:lnSpc>
                <a:spcPct val="110000"/>
              </a:lnSpc>
              <a:spcAft>
                <a:spcPts val="400"/>
              </a:spcAft>
            </a:pPr>
            <a:r>
              <a:rPr sz="1500" b="1" i="0">
                <a:solidFill>
                  <a:srgbClr val="1A2B5E"/>
                </a:solidFill>
                <a:latin typeface="Calibri"/>
              </a:rPr>
              <a:t>Specific initial requirements</a:t>
            </a:r>
          </a:p>
        </p:txBody>
      </p:sp>
      <p:sp>
        <p:nvSpPr>
          <p:cNvPr id="10" name="Rectangle 9"/>
          <p:cNvSpPr/>
          <p:nvPr/>
        </p:nvSpPr>
        <p:spPr>
          <a:xfrm>
            <a:off x="4800600" y="1783080"/>
            <a:ext cx="9144" cy="621792"/>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83480" y="1801368"/>
            <a:ext cx="6473952" cy="640080"/>
          </a:xfrm>
          <a:prstGeom prst="rect">
            <a:avLst/>
          </a:prstGeom>
          <a:noFill/>
        </p:spPr>
        <p:txBody>
          <a:bodyPr wrap="square" lIns="45720" rIns="45720" tIns="18288" bIns="18288" anchor="ctr">
            <a:spAutoFit/>
          </a:bodyPr>
          <a:lstStyle/>
          <a:p>
            <a:pPr algn="l">
              <a:lnSpc>
                <a:spcPct val="130000"/>
              </a:lnSpc>
              <a:spcAft>
                <a:spcPts val="400"/>
              </a:spcAft>
            </a:pPr>
            <a:r>
              <a:rPr sz="1200" b="0" i="0">
                <a:solidFill>
                  <a:srgbClr val="4B5563"/>
                </a:solidFill>
                <a:latin typeface="Calibri"/>
              </a:rPr>
              <a:t>The original prompt named the technology stack, described each UI element, explained the business use case, and stated constraints. Vague prompts produce vague results.</a:t>
            </a:r>
          </a:p>
        </p:txBody>
      </p:sp>
      <p:sp>
        <p:nvSpPr>
          <p:cNvPr id="12" name="Rounded Rectangle 11"/>
          <p:cNvSpPr/>
          <p:nvPr/>
        </p:nvSpPr>
        <p:spPr>
          <a:xfrm>
            <a:off x="548640" y="2569464"/>
            <a:ext cx="11091672" cy="804672"/>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569464"/>
            <a:ext cx="91440" cy="80467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41248" y="2715768"/>
            <a:ext cx="502920" cy="50292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2761488"/>
            <a:ext cx="502920" cy="411480"/>
          </a:xfrm>
          <a:prstGeom prst="rect">
            <a:avLst/>
          </a:prstGeom>
          <a:noFill/>
        </p:spPr>
        <p:txBody>
          <a:bodyPr wrap="square" lIns="45720" rIns="45720" tIns="18288" bIns="18288" anchor="t">
            <a:spAutoFit/>
          </a:bodyPr>
          <a:lstStyle/>
          <a:p>
            <a:pPr algn="ctr">
              <a:lnSpc>
                <a:spcPct val="115000"/>
              </a:lnSpc>
              <a:spcAft>
                <a:spcPts val="400"/>
              </a:spcAft>
            </a:pPr>
            <a:r>
              <a:rPr sz="1800" b="1" i="0">
                <a:solidFill>
                  <a:srgbClr val="D4A017"/>
                </a:solidFill>
                <a:latin typeface="Calibri"/>
              </a:rPr>
              <a:t>2</a:t>
            </a:r>
          </a:p>
        </p:txBody>
      </p:sp>
      <p:sp>
        <p:nvSpPr>
          <p:cNvPr id="16" name="TextBox 15"/>
          <p:cNvSpPr txBox="1"/>
          <p:nvPr/>
        </p:nvSpPr>
        <p:spPr>
          <a:xfrm>
            <a:off x="1508760" y="2660904"/>
            <a:ext cx="3200400" cy="640080"/>
          </a:xfrm>
          <a:prstGeom prst="rect">
            <a:avLst/>
          </a:prstGeom>
          <a:noFill/>
        </p:spPr>
        <p:txBody>
          <a:bodyPr wrap="square" lIns="45720" rIns="45720" tIns="18288" bIns="18288" anchor="ctr">
            <a:spAutoFit/>
          </a:bodyPr>
          <a:lstStyle/>
          <a:p>
            <a:pPr algn="l">
              <a:lnSpc>
                <a:spcPct val="110000"/>
              </a:lnSpc>
              <a:spcAft>
                <a:spcPts val="400"/>
              </a:spcAft>
            </a:pPr>
            <a:r>
              <a:rPr sz="1500" b="1" i="0">
                <a:solidFill>
                  <a:srgbClr val="1A2B5E"/>
                </a:solidFill>
                <a:latin typeface="Calibri"/>
              </a:rPr>
              <a:t>Embracing the Q&amp;A phase</a:t>
            </a:r>
          </a:p>
        </p:txBody>
      </p:sp>
      <p:sp>
        <p:nvSpPr>
          <p:cNvPr id="17" name="Rectangle 16"/>
          <p:cNvSpPr/>
          <p:nvPr/>
        </p:nvSpPr>
        <p:spPr>
          <a:xfrm>
            <a:off x="4800600" y="2660904"/>
            <a:ext cx="9144" cy="621792"/>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983480" y="2679192"/>
            <a:ext cx="6473952" cy="640080"/>
          </a:xfrm>
          <a:prstGeom prst="rect">
            <a:avLst/>
          </a:prstGeom>
          <a:noFill/>
        </p:spPr>
        <p:txBody>
          <a:bodyPr wrap="square" lIns="45720" rIns="45720" tIns="18288" bIns="18288" anchor="ctr">
            <a:spAutoFit/>
          </a:bodyPr>
          <a:lstStyle/>
          <a:p>
            <a:pPr algn="l">
              <a:lnSpc>
                <a:spcPct val="130000"/>
              </a:lnSpc>
              <a:spcAft>
                <a:spcPts val="400"/>
              </a:spcAft>
            </a:pPr>
            <a:r>
              <a:rPr sz="1200" b="0" i="0">
                <a:solidFill>
                  <a:srgbClr val="4B5563"/>
                </a:solidFill>
                <a:latin typeface="Calibri"/>
              </a:rPr>
              <a:t>Letting the AI ask clarifying questions before coding started led to better architecture decisions — including one that prevented a major problem later.</a:t>
            </a:r>
          </a:p>
        </p:txBody>
      </p:sp>
      <p:sp>
        <p:nvSpPr>
          <p:cNvPr id="19" name="Rounded Rectangle 18"/>
          <p:cNvSpPr/>
          <p:nvPr/>
        </p:nvSpPr>
        <p:spPr>
          <a:xfrm>
            <a:off x="548640" y="3447288"/>
            <a:ext cx="11091672" cy="804672"/>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47288"/>
            <a:ext cx="91440" cy="80467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248" y="3593592"/>
            <a:ext cx="502920" cy="50292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3639312"/>
            <a:ext cx="502920" cy="411480"/>
          </a:xfrm>
          <a:prstGeom prst="rect">
            <a:avLst/>
          </a:prstGeom>
          <a:noFill/>
        </p:spPr>
        <p:txBody>
          <a:bodyPr wrap="square" lIns="45720" rIns="45720" tIns="18288" bIns="18288" anchor="t">
            <a:spAutoFit/>
          </a:bodyPr>
          <a:lstStyle/>
          <a:p>
            <a:pPr algn="ctr">
              <a:lnSpc>
                <a:spcPct val="115000"/>
              </a:lnSpc>
              <a:spcAft>
                <a:spcPts val="400"/>
              </a:spcAft>
            </a:pPr>
            <a:r>
              <a:rPr sz="1800" b="1" i="0">
                <a:solidFill>
                  <a:srgbClr val="D4A017"/>
                </a:solidFill>
                <a:latin typeface="Calibri"/>
              </a:rPr>
              <a:t>3</a:t>
            </a:r>
          </a:p>
        </p:txBody>
      </p:sp>
      <p:sp>
        <p:nvSpPr>
          <p:cNvPr id="23" name="TextBox 22"/>
          <p:cNvSpPr txBox="1"/>
          <p:nvPr/>
        </p:nvSpPr>
        <p:spPr>
          <a:xfrm>
            <a:off x="1508760" y="3538728"/>
            <a:ext cx="3200400" cy="640080"/>
          </a:xfrm>
          <a:prstGeom prst="rect">
            <a:avLst/>
          </a:prstGeom>
          <a:noFill/>
        </p:spPr>
        <p:txBody>
          <a:bodyPr wrap="square" lIns="45720" rIns="45720" tIns="18288" bIns="18288" anchor="ctr">
            <a:spAutoFit/>
          </a:bodyPr>
          <a:lstStyle/>
          <a:p>
            <a:pPr algn="l">
              <a:lnSpc>
                <a:spcPct val="110000"/>
              </a:lnSpc>
              <a:spcAft>
                <a:spcPts val="400"/>
              </a:spcAft>
            </a:pPr>
            <a:r>
              <a:rPr sz="1500" b="1" i="0">
                <a:solidFill>
                  <a:srgbClr val="1A2B5E"/>
                </a:solidFill>
                <a:latin typeface="Calibri"/>
              </a:rPr>
              <a:t>Sharing context when things broke</a:t>
            </a:r>
          </a:p>
        </p:txBody>
      </p:sp>
      <p:sp>
        <p:nvSpPr>
          <p:cNvPr id="24" name="Rectangle 23"/>
          <p:cNvSpPr/>
          <p:nvPr/>
        </p:nvSpPr>
        <p:spPr>
          <a:xfrm>
            <a:off x="4800600" y="3538728"/>
            <a:ext cx="9144" cy="621792"/>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983480" y="3557016"/>
            <a:ext cx="6473952" cy="640080"/>
          </a:xfrm>
          <a:prstGeom prst="rect">
            <a:avLst/>
          </a:prstGeom>
          <a:noFill/>
        </p:spPr>
        <p:txBody>
          <a:bodyPr wrap="square" lIns="45720" rIns="45720" tIns="18288" bIns="18288" anchor="ctr">
            <a:spAutoFit/>
          </a:bodyPr>
          <a:lstStyle/>
          <a:p>
            <a:pPr algn="l">
              <a:lnSpc>
                <a:spcPct val="130000"/>
              </a:lnSpc>
              <a:spcAft>
                <a:spcPts val="400"/>
              </a:spcAft>
            </a:pPr>
            <a:r>
              <a:rPr sz="1200" b="0" i="0">
                <a:solidFill>
                  <a:srgbClr val="4B5563"/>
                </a:solidFill>
                <a:latin typeface="Calibri"/>
              </a:rPr>
              <a:t>Error messages were pasted in full. Screenshots were shared. The more context provided, the faster problems were diagnosed.</a:t>
            </a:r>
          </a:p>
        </p:txBody>
      </p:sp>
      <p:sp>
        <p:nvSpPr>
          <p:cNvPr id="26" name="Rounded Rectangle 25"/>
          <p:cNvSpPr/>
          <p:nvPr/>
        </p:nvSpPr>
        <p:spPr>
          <a:xfrm>
            <a:off x="548640" y="4325112"/>
            <a:ext cx="11091672" cy="804672"/>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325112"/>
            <a:ext cx="91440" cy="80467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41248" y="4471416"/>
            <a:ext cx="502920" cy="50292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4517136"/>
            <a:ext cx="502920" cy="411480"/>
          </a:xfrm>
          <a:prstGeom prst="rect">
            <a:avLst/>
          </a:prstGeom>
          <a:noFill/>
        </p:spPr>
        <p:txBody>
          <a:bodyPr wrap="square" lIns="45720" rIns="45720" tIns="18288" bIns="18288" anchor="t">
            <a:spAutoFit/>
          </a:bodyPr>
          <a:lstStyle/>
          <a:p>
            <a:pPr algn="ctr">
              <a:lnSpc>
                <a:spcPct val="115000"/>
              </a:lnSpc>
              <a:spcAft>
                <a:spcPts val="400"/>
              </a:spcAft>
            </a:pPr>
            <a:r>
              <a:rPr sz="1800" b="1" i="0">
                <a:solidFill>
                  <a:srgbClr val="D4A017"/>
                </a:solidFill>
                <a:latin typeface="Calibri"/>
              </a:rPr>
              <a:t>4</a:t>
            </a:r>
          </a:p>
        </p:txBody>
      </p:sp>
      <p:sp>
        <p:nvSpPr>
          <p:cNvPr id="30" name="TextBox 29"/>
          <p:cNvSpPr txBox="1"/>
          <p:nvPr/>
        </p:nvSpPr>
        <p:spPr>
          <a:xfrm>
            <a:off x="1508760" y="4416552"/>
            <a:ext cx="3200400" cy="640080"/>
          </a:xfrm>
          <a:prstGeom prst="rect">
            <a:avLst/>
          </a:prstGeom>
          <a:noFill/>
        </p:spPr>
        <p:txBody>
          <a:bodyPr wrap="square" lIns="45720" rIns="45720" tIns="18288" bIns="18288" anchor="ctr">
            <a:spAutoFit/>
          </a:bodyPr>
          <a:lstStyle/>
          <a:p>
            <a:pPr algn="l">
              <a:lnSpc>
                <a:spcPct val="110000"/>
              </a:lnSpc>
              <a:spcAft>
                <a:spcPts val="400"/>
              </a:spcAft>
            </a:pPr>
            <a:r>
              <a:rPr sz="1500" b="1" i="0">
                <a:solidFill>
                  <a:srgbClr val="1A2B5E"/>
                </a:solidFill>
                <a:latin typeface="Calibri"/>
              </a:rPr>
              <a:t>Iterating, not starting over</a:t>
            </a:r>
          </a:p>
        </p:txBody>
      </p:sp>
      <p:sp>
        <p:nvSpPr>
          <p:cNvPr id="31" name="Rectangle 30"/>
          <p:cNvSpPr/>
          <p:nvPr/>
        </p:nvSpPr>
        <p:spPr>
          <a:xfrm>
            <a:off x="4800600" y="4416552"/>
            <a:ext cx="9144" cy="621792"/>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83480" y="4434840"/>
            <a:ext cx="6473952" cy="640080"/>
          </a:xfrm>
          <a:prstGeom prst="rect">
            <a:avLst/>
          </a:prstGeom>
          <a:noFill/>
        </p:spPr>
        <p:txBody>
          <a:bodyPr wrap="square" lIns="45720" rIns="45720" tIns="18288" bIns="18288" anchor="ctr">
            <a:spAutoFit/>
          </a:bodyPr>
          <a:lstStyle/>
          <a:p>
            <a:pPr algn="l">
              <a:lnSpc>
                <a:spcPct val="130000"/>
              </a:lnSpc>
              <a:spcAft>
                <a:spcPts val="400"/>
              </a:spcAft>
            </a:pPr>
            <a:r>
              <a:rPr sz="1200" b="0" i="0">
                <a:solidFill>
                  <a:srgbClr val="4B5563"/>
                </a:solidFill>
                <a:latin typeface="Calibri"/>
              </a:rPr>
              <a:t>When something didn't work, the conversation continued. The AI corrected its own output. Persistence through small failures is part of the process.</a:t>
            </a:r>
          </a:p>
        </p:txBody>
      </p:sp>
      <p:sp>
        <p:nvSpPr>
          <p:cNvPr id="33" name="Rounded Rectangle 32"/>
          <p:cNvSpPr/>
          <p:nvPr/>
        </p:nvSpPr>
        <p:spPr>
          <a:xfrm>
            <a:off x="548640" y="5202936"/>
            <a:ext cx="11091672" cy="804672"/>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202936"/>
            <a:ext cx="91440" cy="80467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41248" y="5349240"/>
            <a:ext cx="502920" cy="502920"/>
          </a:xfrm>
          <a:prstGeom prst="ellipse">
            <a:avLst/>
          </a:prstGeom>
          <a:solidFill>
            <a:srgbClr val="1A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 y="5394960"/>
            <a:ext cx="502920" cy="411480"/>
          </a:xfrm>
          <a:prstGeom prst="rect">
            <a:avLst/>
          </a:prstGeom>
          <a:noFill/>
        </p:spPr>
        <p:txBody>
          <a:bodyPr wrap="square" lIns="45720" rIns="45720" tIns="18288" bIns="18288" anchor="t">
            <a:spAutoFit/>
          </a:bodyPr>
          <a:lstStyle/>
          <a:p>
            <a:pPr algn="ctr">
              <a:lnSpc>
                <a:spcPct val="115000"/>
              </a:lnSpc>
              <a:spcAft>
                <a:spcPts val="400"/>
              </a:spcAft>
            </a:pPr>
            <a:r>
              <a:rPr sz="1800" b="1" i="0">
                <a:solidFill>
                  <a:srgbClr val="D4A017"/>
                </a:solidFill>
                <a:latin typeface="Calibri"/>
              </a:rPr>
              <a:t>5</a:t>
            </a:r>
          </a:p>
        </p:txBody>
      </p:sp>
      <p:sp>
        <p:nvSpPr>
          <p:cNvPr id="37" name="TextBox 36"/>
          <p:cNvSpPr txBox="1"/>
          <p:nvPr/>
        </p:nvSpPr>
        <p:spPr>
          <a:xfrm>
            <a:off x="1508760" y="5294376"/>
            <a:ext cx="3200400" cy="640080"/>
          </a:xfrm>
          <a:prstGeom prst="rect">
            <a:avLst/>
          </a:prstGeom>
          <a:noFill/>
        </p:spPr>
        <p:txBody>
          <a:bodyPr wrap="square" lIns="45720" rIns="45720" tIns="18288" bIns="18288" anchor="ctr">
            <a:spAutoFit/>
          </a:bodyPr>
          <a:lstStyle/>
          <a:p>
            <a:pPr algn="l">
              <a:lnSpc>
                <a:spcPct val="110000"/>
              </a:lnSpc>
              <a:spcAft>
                <a:spcPts val="400"/>
              </a:spcAft>
            </a:pPr>
            <a:r>
              <a:rPr sz="1500" b="1" i="0">
                <a:solidFill>
                  <a:srgbClr val="1A2B5E"/>
                </a:solidFill>
                <a:latin typeface="Calibri"/>
              </a:rPr>
              <a:t>Treating documentation as deliverable</a:t>
            </a:r>
          </a:p>
        </p:txBody>
      </p:sp>
      <p:sp>
        <p:nvSpPr>
          <p:cNvPr id="38" name="Rectangle 37"/>
          <p:cNvSpPr/>
          <p:nvPr/>
        </p:nvSpPr>
        <p:spPr>
          <a:xfrm>
            <a:off x="4800600" y="5294376"/>
            <a:ext cx="9144" cy="621792"/>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983480" y="5312664"/>
            <a:ext cx="6473952" cy="640080"/>
          </a:xfrm>
          <a:prstGeom prst="rect">
            <a:avLst/>
          </a:prstGeom>
          <a:noFill/>
        </p:spPr>
        <p:txBody>
          <a:bodyPr wrap="square" lIns="45720" rIns="45720" tIns="18288" bIns="18288" anchor="ctr">
            <a:spAutoFit/>
          </a:bodyPr>
          <a:lstStyle/>
          <a:p>
            <a:pPr algn="l">
              <a:lnSpc>
                <a:spcPct val="130000"/>
              </a:lnSpc>
              <a:spcAft>
                <a:spcPts val="400"/>
              </a:spcAft>
            </a:pPr>
            <a:r>
              <a:rPr sz="1200" b="0" i="0">
                <a:solidFill>
                  <a:srgbClr val="4B5563"/>
                </a:solidFill>
                <a:latin typeface="Calibri"/>
              </a:rPr>
              <a:t>README, .gitignore, and session notes were requested as part of the work, not added later.</a:t>
            </a:r>
          </a:p>
        </p:txBody>
      </p:sp>
      <p:sp>
        <p:nvSpPr>
          <p:cNvPr id="40" name="Rectangle 39"/>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42" name="TextBox 41"/>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WHAT THIS MEANS FOR YOU</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Implications for Our Organization</a:t>
            </a:r>
          </a:p>
        </p:txBody>
      </p:sp>
      <p:sp>
        <p:nvSpPr>
          <p:cNvPr id="5" name="Rounded Rectangle 4"/>
          <p:cNvSpPr/>
          <p:nvPr/>
        </p:nvSpPr>
        <p:spPr>
          <a:xfrm>
            <a:off x="548640" y="1691640"/>
            <a:ext cx="3694176" cy="416052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3694176" cy="64008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856232"/>
            <a:ext cx="3236976" cy="365760"/>
          </a:xfrm>
          <a:prstGeom prst="rect">
            <a:avLst/>
          </a:prstGeom>
          <a:noFill/>
        </p:spPr>
        <p:txBody>
          <a:bodyPr wrap="square" lIns="45720" rIns="45720" tIns="18288" bIns="18288" anchor="t">
            <a:spAutoFit/>
          </a:bodyPr>
          <a:lstStyle/>
          <a:p>
            <a:pPr algn="l">
              <a:lnSpc>
                <a:spcPct val="115000"/>
              </a:lnSpc>
              <a:spcAft>
                <a:spcPts val="400"/>
              </a:spcAft>
            </a:pPr>
            <a:r>
              <a:rPr sz="1200" b="1" i="0">
                <a:solidFill>
                  <a:srgbClr val="121E42"/>
                </a:solidFill>
                <a:latin typeface="Calibri"/>
              </a:rPr>
              <a:t>FOR INDIVIDUAL LEADERS</a:t>
            </a:r>
          </a:p>
        </p:txBody>
      </p:sp>
      <p:sp>
        <p:nvSpPr>
          <p:cNvPr id="8" name="Rectangle 7"/>
          <p:cNvSpPr/>
          <p:nvPr/>
        </p:nvSpPr>
        <p:spPr>
          <a:xfrm>
            <a:off x="822960" y="2679192"/>
            <a:ext cx="118872" cy="11887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51560" y="2560320"/>
            <a:ext cx="3008376" cy="1188720"/>
          </a:xfrm>
          <a:prstGeom prst="rect">
            <a:avLst/>
          </a:prstGeom>
          <a:noFill/>
        </p:spPr>
        <p:txBody>
          <a:bodyPr wrap="square" lIns="45720" rIns="45720" tIns="18288" bIns="18288" anchor="t">
            <a:spAutoFit/>
          </a:bodyPr>
          <a:lstStyle/>
          <a:p>
            <a:pPr algn="l">
              <a:lnSpc>
                <a:spcPct val="135000"/>
              </a:lnSpc>
              <a:spcAft>
                <a:spcPts val="0"/>
              </a:spcAft>
            </a:pPr>
            <a:r>
              <a:rPr sz="1200" b="0" i="0">
                <a:solidFill>
                  <a:srgbClr val="1F2937"/>
                </a:solidFill>
                <a:latin typeface="Calibri"/>
              </a:rPr>
              <a:t>Domain expertise + AI tools = meaningful prototypes without an engineering team</a:t>
            </a:r>
          </a:p>
        </p:txBody>
      </p:sp>
      <p:sp>
        <p:nvSpPr>
          <p:cNvPr id="10" name="Rectangle 9"/>
          <p:cNvSpPr/>
          <p:nvPr/>
        </p:nvSpPr>
        <p:spPr>
          <a:xfrm>
            <a:off x="822960" y="3776472"/>
            <a:ext cx="118872" cy="11887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51560" y="3657600"/>
            <a:ext cx="3008376" cy="1188720"/>
          </a:xfrm>
          <a:prstGeom prst="rect">
            <a:avLst/>
          </a:prstGeom>
          <a:noFill/>
        </p:spPr>
        <p:txBody>
          <a:bodyPr wrap="square" lIns="45720" rIns="45720" tIns="18288" bIns="18288" anchor="t">
            <a:spAutoFit/>
          </a:bodyPr>
          <a:lstStyle/>
          <a:p>
            <a:pPr algn="l">
              <a:lnSpc>
                <a:spcPct val="135000"/>
              </a:lnSpc>
              <a:spcAft>
                <a:spcPts val="0"/>
              </a:spcAft>
            </a:pPr>
            <a:r>
              <a:rPr sz="1200" b="0" i="0">
                <a:solidFill>
                  <a:srgbClr val="1F2937"/>
                </a:solidFill>
                <a:latin typeface="Calibri"/>
              </a:rPr>
              <a:t>"I have an idea, let me try it" is now a viable posture</a:t>
            </a:r>
          </a:p>
        </p:txBody>
      </p:sp>
      <p:sp>
        <p:nvSpPr>
          <p:cNvPr id="12" name="Rectangle 11"/>
          <p:cNvSpPr/>
          <p:nvPr/>
        </p:nvSpPr>
        <p:spPr>
          <a:xfrm>
            <a:off x="822960" y="4873752"/>
            <a:ext cx="118872" cy="11887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51560" y="4754880"/>
            <a:ext cx="3008376" cy="1188720"/>
          </a:xfrm>
          <a:prstGeom prst="rect">
            <a:avLst/>
          </a:prstGeom>
          <a:noFill/>
        </p:spPr>
        <p:txBody>
          <a:bodyPr wrap="square" lIns="45720" rIns="45720" tIns="18288" bIns="18288" anchor="t">
            <a:spAutoFit/>
          </a:bodyPr>
          <a:lstStyle/>
          <a:p>
            <a:pPr algn="l">
              <a:lnSpc>
                <a:spcPct val="135000"/>
              </a:lnSpc>
              <a:spcAft>
                <a:spcPts val="0"/>
              </a:spcAft>
            </a:pPr>
            <a:r>
              <a:rPr sz="1200" b="0" i="0">
                <a:solidFill>
                  <a:srgbClr val="1F2937"/>
                </a:solidFill>
                <a:latin typeface="Calibri"/>
              </a:rPr>
              <a:t>The learning curve is real but shorter than expected — the first session is the hardest</a:t>
            </a:r>
          </a:p>
        </p:txBody>
      </p:sp>
      <p:sp>
        <p:nvSpPr>
          <p:cNvPr id="14" name="Rounded Rectangle 13"/>
          <p:cNvSpPr/>
          <p:nvPr/>
        </p:nvSpPr>
        <p:spPr>
          <a:xfrm>
            <a:off x="4311396" y="1691640"/>
            <a:ext cx="3694176" cy="416052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1396" y="1691640"/>
            <a:ext cx="3694176" cy="6400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9996" y="1856232"/>
            <a:ext cx="3236976" cy="365760"/>
          </a:xfrm>
          <a:prstGeom prst="rect">
            <a:avLst/>
          </a:prstGeom>
          <a:noFill/>
        </p:spPr>
        <p:txBody>
          <a:bodyPr wrap="square" lIns="45720" rIns="45720" tIns="18288" bIns="18288" anchor="t">
            <a:spAutoFit/>
          </a:bodyPr>
          <a:lstStyle/>
          <a:p>
            <a:pPr algn="l">
              <a:lnSpc>
                <a:spcPct val="115000"/>
              </a:lnSpc>
              <a:spcAft>
                <a:spcPts val="400"/>
              </a:spcAft>
            </a:pPr>
            <a:r>
              <a:rPr sz="1200" b="1" i="0">
                <a:solidFill>
                  <a:srgbClr val="FFFFFF"/>
                </a:solidFill>
                <a:latin typeface="Calibri"/>
              </a:rPr>
              <a:t>FOR YOUR TEAMS</a:t>
            </a:r>
          </a:p>
        </p:txBody>
      </p:sp>
      <p:sp>
        <p:nvSpPr>
          <p:cNvPr id="17" name="Rectangle 16"/>
          <p:cNvSpPr/>
          <p:nvPr/>
        </p:nvSpPr>
        <p:spPr>
          <a:xfrm>
            <a:off x="4585716" y="2679192"/>
            <a:ext cx="118872" cy="11887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14316" y="2560320"/>
            <a:ext cx="3008376" cy="1188720"/>
          </a:xfrm>
          <a:prstGeom prst="rect">
            <a:avLst/>
          </a:prstGeom>
          <a:noFill/>
        </p:spPr>
        <p:txBody>
          <a:bodyPr wrap="square" lIns="45720" rIns="45720" tIns="18288" bIns="18288" anchor="t">
            <a:spAutoFit/>
          </a:bodyPr>
          <a:lstStyle/>
          <a:p>
            <a:pPr algn="l">
              <a:lnSpc>
                <a:spcPct val="135000"/>
              </a:lnSpc>
              <a:spcAft>
                <a:spcPts val="0"/>
              </a:spcAft>
            </a:pPr>
            <a:r>
              <a:rPr sz="1200" b="0" i="0">
                <a:solidFill>
                  <a:srgbClr val="1F2937"/>
                </a:solidFill>
                <a:latin typeface="Calibri"/>
              </a:rPr>
              <a:t>Engineers using AI tools are meaningfully more productive — affects how you staff and scope projects</a:t>
            </a:r>
          </a:p>
        </p:txBody>
      </p:sp>
      <p:sp>
        <p:nvSpPr>
          <p:cNvPr id="19" name="Rectangle 18"/>
          <p:cNvSpPr/>
          <p:nvPr/>
        </p:nvSpPr>
        <p:spPr>
          <a:xfrm>
            <a:off x="4585716" y="3776472"/>
            <a:ext cx="118872" cy="11887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814316" y="3657600"/>
            <a:ext cx="3008376" cy="1188720"/>
          </a:xfrm>
          <a:prstGeom prst="rect">
            <a:avLst/>
          </a:prstGeom>
          <a:noFill/>
        </p:spPr>
        <p:txBody>
          <a:bodyPr wrap="square" lIns="45720" rIns="45720" tIns="18288" bIns="18288" anchor="t">
            <a:spAutoFit/>
          </a:bodyPr>
          <a:lstStyle/>
          <a:p>
            <a:pPr algn="l">
              <a:lnSpc>
                <a:spcPct val="135000"/>
              </a:lnSpc>
              <a:spcAft>
                <a:spcPts val="0"/>
              </a:spcAft>
            </a:pPr>
            <a:r>
              <a:rPr sz="1200" b="0" i="0">
                <a:solidFill>
                  <a:srgbClr val="1F2937"/>
                </a:solidFill>
                <a:latin typeface="Calibri"/>
              </a:rPr>
              <a:t>AI-generated prototypes can accelerate requirements conversations — show, don't just describe</a:t>
            </a:r>
          </a:p>
        </p:txBody>
      </p:sp>
      <p:sp>
        <p:nvSpPr>
          <p:cNvPr id="21" name="Rectangle 20"/>
          <p:cNvSpPr/>
          <p:nvPr/>
        </p:nvSpPr>
        <p:spPr>
          <a:xfrm>
            <a:off x="4585716" y="4873752"/>
            <a:ext cx="118872" cy="11887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814316" y="4754880"/>
            <a:ext cx="3008376" cy="1188720"/>
          </a:xfrm>
          <a:prstGeom prst="rect">
            <a:avLst/>
          </a:prstGeom>
          <a:noFill/>
        </p:spPr>
        <p:txBody>
          <a:bodyPr wrap="square" lIns="45720" rIns="45720" tIns="18288" bIns="18288" anchor="t">
            <a:spAutoFit/>
          </a:bodyPr>
          <a:lstStyle/>
          <a:p>
            <a:pPr algn="l">
              <a:lnSpc>
                <a:spcPct val="135000"/>
              </a:lnSpc>
              <a:spcAft>
                <a:spcPts val="0"/>
              </a:spcAft>
            </a:pPr>
            <a:r>
              <a:rPr sz="1200" b="0" i="0">
                <a:solidFill>
                  <a:srgbClr val="1F2937"/>
                </a:solidFill>
                <a:latin typeface="Calibri"/>
              </a:rPr>
              <a:t>The human review step still matters: AI writes fast, humans must verify</a:t>
            </a:r>
          </a:p>
        </p:txBody>
      </p:sp>
      <p:sp>
        <p:nvSpPr>
          <p:cNvPr id="23" name="Rounded Rectangle 22"/>
          <p:cNvSpPr/>
          <p:nvPr/>
        </p:nvSpPr>
        <p:spPr>
          <a:xfrm>
            <a:off x="8074152" y="1691640"/>
            <a:ext cx="3694176" cy="4160520"/>
          </a:xfrm>
          <a:prstGeom prst="roundRect">
            <a:avLst>
              <a:gd name="adj" fmla="val 6000"/>
            </a:avLst>
          </a:prstGeom>
          <a:solidFill>
            <a:srgbClr val="FFFFFF"/>
          </a:solidFill>
          <a:ln w="9525">
            <a:solidFill>
              <a:srgbClr val="D7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74152" y="1691640"/>
            <a:ext cx="3694176" cy="640080"/>
          </a:xfrm>
          <a:prstGeom prst="rect">
            <a:avLst/>
          </a:prstGeom>
          <a:solidFill>
            <a:srgbClr val="2B3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02752" y="1856232"/>
            <a:ext cx="3236976" cy="365760"/>
          </a:xfrm>
          <a:prstGeom prst="rect">
            <a:avLst/>
          </a:prstGeom>
          <a:noFill/>
        </p:spPr>
        <p:txBody>
          <a:bodyPr wrap="square" lIns="45720" rIns="45720" tIns="18288" bIns="18288" anchor="t">
            <a:spAutoFit/>
          </a:bodyPr>
          <a:lstStyle/>
          <a:p>
            <a:pPr algn="l">
              <a:lnSpc>
                <a:spcPct val="115000"/>
              </a:lnSpc>
              <a:spcAft>
                <a:spcPts val="400"/>
              </a:spcAft>
            </a:pPr>
            <a:r>
              <a:rPr sz="1200" b="1" i="0">
                <a:solidFill>
                  <a:srgbClr val="FFFFFF"/>
                </a:solidFill>
                <a:latin typeface="Calibri"/>
              </a:rPr>
              <a:t>FOR THE ORGANIZATION</a:t>
            </a:r>
          </a:p>
        </p:txBody>
      </p:sp>
      <p:sp>
        <p:nvSpPr>
          <p:cNvPr id="26" name="Rectangle 25"/>
          <p:cNvSpPr/>
          <p:nvPr/>
        </p:nvSpPr>
        <p:spPr>
          <a:xfrm>
            <a:off x="8348472" y="2679192"/>
            <a:ext cx="118872" cy="118872"/>
          </a:xfrm>
          <a:prstGeom prst="rect">
            <a:avLst/>
          </a:prstGeom>
          <a:solidFill>
            <a:srgbClr val="2B3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577072" y="2560320"/>
            <a:ext cx="3008376" cy="1188720"/>
          </a:xfrm>
          <a:prstGeom prst="rect">
            <a:avLst/>
          </a:prstGeom>
          <a:noFill/>
        </p:spPr>
        <p:txBody>
          <a:bodyPr wrap="square" lIns="45720" rIns="45720" tIns="18288" bIns="18288" anchor="t">
            <a:spAutoFit/>
          </a:bodyPr>
          <a:lstStyle/>
          <a:p>
            <a:pPr algn="l">
              <a:lnSpc>
                <a:spcPct val="135000"/>
              </a:lnSpc>
              <a:spcAft>
                <a:spcPts val="0"/>
              </a:spcAft>
            </a:pPr>
            <a:r>
              <a:rPr sz="1200" b="0" i="0">
                <a:solidFill>
                  <a:srgbClr val="1F2937"/>
                </a:solidFill>
                <a:latin typeface="Calibri"/>
              </a:rPr>
              <a:t>Proof-of-concept timelines are compressing — weeks to days, days to hours</a:t>
            </a:r>
          </a:p>
        </p:txBody>
      </p:sp>
      <p:sp>
        <p:nvSpPr>
          <p:cNvPr id="28" name="Rectangle 27"/>
          <p:cNvSpPr/>
          <p:nvPr/>
        </p:nvSpPr>
        <p:spPr>
          <a:xfrm>
            <a:off x="8348472" y="3776472"/>
            <a:ext cx="118872" cy="118872"/>
          </a:xfrm>
          <a:prstGeom prst="rect">
            <a:avLst/>
          </a:prstGeom>
          <a:solidFill>
            <a:srgbClr val="2B3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577072" y="3657600"/>
            <a:ext cx="3008376" cy="1188720"/>
          </a:xfrm>
          <a:prstGeom prst="rect">
            <a:avLst/>
          </a:prstGeom>
          <a:noFill/>
        </p:spPr>
        <p:txBody>
          <a:bodyPr wrap="square" lIns="45720" rIns="45720" tIns="18288" bIns="18288" anchor="t">
            <a:spAutoFit/>
          </a:bodyPr>
          <a:lstStyle/>
          <a:p>
            <a:pPr algn="l">
              <a:lnSpc>
                <a:spcPct val="135000"/>
              </a:lnSpc>
              <a:spcAft>
                <a:spcPts val="0"/>
              </a:spcAft>
            </a:pPr>
            <a:r>
              <a:rPr sz="1200" b="0" i="0">
                <a:solidFill>
                  <a:srgbClr val="1F2937"/>
                </a:solidFill>
                <a:latin typeface="Calibri"/>
              </a:rPr>
              <a:t>The cost of "let's just try it" has dropped significantly</a:t>
            </a:r>
          </a:p>
        </p:txBody>
      </p:sp>
      <p:sp>
        <p:nvSpPr>
          <p:cNvPr id="30" name="Rectangle 29"/>
          <p:cNvSpPr/>
          <p:nvPr/>
        </p:nvSpPr>
        <p:spPr>
          <a:xfrm>
            <a:off x="8348472" y="4873752"/>
            <a:ext cx="118872" cy="118872"/>
          </a:xfrm>
          <a:prstGeom prst="rect">
            <a:avLst/>
          </a:prstGeom>
          <a:solidFill>
            <a:srgbClr val="2B3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577072" y="4754880"/>
            <a:ext cx="3008376" cy="1188720"/>
          </a:xfrm>
          <a:prstGeom prst="rect">
            <a:avLst/>
          </a:prstGeom>
          <a:noFill/>
        </p:spPr>
        <p:txBody>
          <a:bodyPr wrap="square" lIns="45720" rIns="45720" tIns="18288" bIns="18288" anchor="t">
            <a:spAutoFit/>
          </a:bodyPr>
          <a:lstStyle/>
          <a:p>
            <a:pPr algn="l">
              <a:lnSpc>
                <a:spcPct val="135000"/>
              </a:lnSpc>
              <a:spcAft>
                <a:spcPts val="0"/>
              </a:spcAft>
            </a:pPr>
            <a:r>
              <a:rPr sz="1200" b="0" i="0">
                <a:solidFill>
                  <a:srgbClr val="1F2937"/>
                </a:solidFill>
                <a:latin typeface="Calibri"/>
              </a:rPr>
              <a:t>Governance frameworks for AI-generated code are worth establishing now, before they're urgent</a:t>
            </a:r>
          </a:p>
        </p:txBody>
      </p:sp>
      <p:sp>
        <p:nvSpPr>
          <p:cNvPr id="32" name="Rectangle 31"/>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34" name="TextBox 33"/>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2880360"/>
            <a:ext cx="12191695"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0" y="2286000"/>
            <a:ext cx="12191695" cy="457200"/>
          </a:xfrm>
          <a:prstGeom prst="rect">
            <a:avLst/>
          </a:prstGeom>
          <a:noFill/>
        </p:spPr>
        <p:txBody>
          <a:bodyPr wrap="square" lIns="45720" rIns="45720" tIns="18288" bIns="18288" anchor="t">
            <a:spAutoFit/>
          </a:bodyPr>
          <a:lstStyle/>
          <a:p>
            <a:pPr algn="ctr">
              <a:lnSpc>
                <a:spcPct val="115000"/>
              </a:lnSpc>
              <a:spcAft>
                <a:spcPts val="400"/>
              </a:spcAft>
            </a:pPr>
            <a:r>
              <a:rPr sz="1400" b="1" i="0">
                <a:solidFill>
                  <a:srgbClr val="D4A017"/>
                </a:solidFill>
                <a:latin typeface="Calibri"/>
              </a:rPr>
              <a:t>STEP INTO THE APPLICATION</a:t>
            </a:r>
          </a:p>
        </p:txBody>
      </p:sp>
      <p:sp>
        <p:nvSpPr>
          <p:cNvPr id="5" name="TextBox 4"/>
          <p:cNvSpPr txBox="1"/>
          <p:nvPr/>
        </p:nvSpPr>
        <p:spPr>
          <a:xfrm>
            <a:off x="0" y="3108960"/>
            <a:ext cx="12191695" cy="1280160"/>
          </a:xfrm>
          <a:prstGeom prst="rect">
            <a:avLst/>
          </a:prstGeom>
          <a:noFill/>
        </p:spPr>
        <p:txBody>
          <a:bodyPr wrap="square" lIns="45720" rIns="45720" tIns="18288" bIns="18288" anchor="t">
            <a:spAutoFit/>
          </a:bodyPr>
          <a:lstStyle/>
          <a:p>
            <a:pPr algn="ctr">
              <a:lnSpc>
                <a:spcPct val="100000"/>
              </a:lnSpc>
              <a:spcAft>
                <a:spcPts val="400"/>
              </a:spcAft>
            </a:pPr>
            <a:r>
              <a:rPr sz="9600" b="1" i="0">
                <a:solidFill>
                  <a:srgbClr val="FFFFFF"/>
                </a:solidFill>
                <a:latin typeface="Calibri"/>
              </a:rPr>
              <a:t>LIVE DEMO</a:t>
            </a:r>
          </a:p>
        </p:txBody>
      </p:sp>
      <p:sp>
        <p:nvSpPr>
          <p:cNvPr id="6" name="TextBox 5"/>
          <p:cNvSpPr txBox="1"/>
          <p:nvPr/>
        </p:nvSpPr>
        <p:spPr>
          <a:xfrm>
            <a:off x="0" y="4709160"/>
            <a:ext cx="12191695" cy="457200"/>
          </a:xfrm>
          <a:prstGeom prst="rect">
            <a:avLst/>
          </a:prstGeom>
          <a:noFill/>
        </p:spPr>
        <p:txBody>
          <a:bodyPr wrap="square" lIns="45720" rIns="45720" tIns="18288" bIns="18288" anchor="t">
            <a:spAutoFit/>
          </a:bodyPr>
          <a:lstStyle/>
          <a:p>
            <a:pPr algn="ctr">
              <a:lnSpc>
                <a:spcPct val="115000"/>
              </a:lnSpc>
              <a:spcAft>
                <a:spcPts val="400"/>
              </a:spcAft>
            </a:pPr>
            <a:r>
              <a:rPr sz="2200" b="0" i="1">
                <a:solidFill>
                  <a:srgbClr val="F5E6B8"/>
                </a:solidFill>
                <a:latin typeface="Calibri"/>
              </a:rPr>
              <a:t>Let's See It Running</a:t>
            </a:r>
          </a:p>
        </p:txBody>
      </p:sp>
      <p:sp>
        <p:nvSpPr>
          <p:cNvPr id="7" name="TextBox 6"/>
          <p:cNvSpPr txBox="1"/>
          <p:nvPr/>
        </p:nvSpPr>
        <p:spPr>
          <a:xfrm>
            <a:off x="0" y="6355080"/>
            <a:ext cx="12191695" cy="274320"/>
          </a:xfrm>
          <a:prstGeom prst="rect">
            <a:avLst/>
          </a:prstGeom>
          <a:noFill/>
        </p:spPr>
        <p:txBody>
          <a:bodyPr wrap="square" lIns="45720" rIns="45720" tIns="18288" bIns="18288" anchor="t">
            <a:spAutoFit/>
          </a:bodyPr>
          <a:lstStyle/>
          <a:p>
            <a:pPr algn="ctr">
              <a:lnSpc>
                <a:spcPct val="115000"/>
              </a:lnSpc>
              <a:spcAft>
                <a:spcPts val="400"/>
              </a:spcAft>
            </a:pPr>
            <a:r>
              <a:rPr sz="1000" b="0" i="0">
                <a:solidFill>
                  <a:srgbClr val="6B7280"/>
                </a:solidFill>
                <a:latin typeface="Calibr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65760"/>
            <a:ext cx="5486400" cy="27432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D4A017"/>
                </a:solidFill>
                <a:latin typeface="Calibri"/>
              </a:rPr>
              <a:t>TRY IT YOURSELF</a:t>
            </a:r>
          </a:p>
        </p:txBody>
      </p:sp>
      <p:sp>
        <p:nvSpPr>
          <p:cNvPr id="4" name="TextBox 3"/>
          <p:cNvSpPr txBox="1"/>
          <p:nvPr/>
        </p:nvSpPr>
        <p:spPr>
          <a:xfrm>
            <a:off x="548640" y="685800"/>
            <a:ext cx="10972800" cy="640080"/>
          </a:xfrm>
          <a:prstGeom prst="rect">
            <a:avLst/>
          </a:prstGeom>
          <a:noFill/>
        </p:spPr>
        <p:txBody>
          <a:bodyPr wrap="square" lIns="45720" rIns="45720" tIns="18288" bIns="18288" anchor="t">
            <a:spAutoFit/>
          </a:bodyPr>
          <a:lstStyle/>
          <a:p>
            <a:pPr algn="l">
              <a:lnSpc>
                <a:spcPct val="105000"/>
              </a:lnSpc>
              <a:spcAft>
                <a:spcPts val="0"/>
              </a:spcAft>
            </a:pPr>
            <a:r>
              <a:rPr sz="3200" b="1" i="0">
                <a:solidFill>
                  <a:srgbClr val="1A2B5E"/>
                </a:solidFill>
                <a:latin typeface="Calibri"/>
              </a:rPr>
              <a:t>Your First Vibe Coding Session</a:t>
            </a:r>
          </a:p>
        </p:txBody>
      </p:sp>
      <p:sp>
        <p:nvSpPr>
          <p:cNvPr id="5" name="Rounded Rectangle 4"/>
          <p:cNvSpPr/>
          <p:nvPr/>
        </p:nvSpPr>
        <p:spPr>
          <a:xfrm>
            <a:off x="548640" y="1691640"/>
            <a:ext cx="3694176" cy="182880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91640"/>
            <a:ext cx="3694176"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1828800"/>
            <a:ext cx="914400" cy="1097280"/>
          </a:xfrm>
          <a:prstGeom prst="rect">
            <a:avLst/>
          </a:prstGeom>
          <a:noFill/>
        </p:spPr>
        <p:txBody>
          <a:bodyPr wrap="square" lIns="45720" rIns="45720" tIns="18288" bIns="18288" anchor="t">
            <a:spAutoFit/>
          </a:bodyPr>
          <a:lstStyle/>
          <a:p>
            <a:pPr algn="l">
              <a:lnSpc>
                <a:spcPct val="100000"/>
              </a:lnSpc>
              <a:spcAft>
                <a:spcPts val="0"/>
              </a:spcAft>
            </a:pPr>
            <a:r>
              <a:rPr sz="5400" b="1" i="0">
                <a:solidFill>
                  <a:srgbClr val="D4A017"/>
                </a:solidFill>
                <a:latin typeface="Calibri"/>
              </a:rPr>
              <a:t>1</a:t>
            </a:r>
          </a:p>
        </p:txBody>
      </p:sp>
      <p:sp>
        <p:nvSpPr>
          <p:cNvPr id="8" name="TextBox 7"/>
          <p:cNvSpPr txBox="1"/>
          <p:nvPr/>
        </p:nvSpPr>
        <p:spPr>
          <a:xfrm>
            <a:off x="1737360" y="1965960"/>
            <a:ext cx="2322576" cy="36576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2B3F76"/>
                </a:solidFill>
                <a:latin typeface="Calibri"/>
              </a:rPr>
              <a:t>STEP 1</a:t>
            </a:r>
          </a:p>
        </p:txBody>
      </p:sp>
      <p:sp>
        <p:nvSpPr>
          <p:cNvPr id="9" name="TextBox 8"/>
          <p:cNvSpPr txBox="1"/>
          <p:nvPr/>
        </p:nvSpPr>
        <p:spPr>
          <a:xfrm>
            <a:off x="1737360" y="2194560"/>
            <a:ext cx="2322576" cy="502920"/>
          </a:xfrm>
          <a:prstGeom prst="rect">
            <a:avLst/>
          </a:prstGeom>
          <a:noFill/>
        </p:spPr>
        <p:txBody>
          <a:bodyPr wrap="square" lIns="45720" rIns="45720" tIns="18288" bIns="18288" anchor="t">
            <a:spAutoFit/>
          </a:bodyPr>
          <a:lstStyle/>
          <a:p>
            <a:pPr algn="l">
              <a:lnSpc>
                <a:spcPct val="110000"/>
              </a:lnSpc>
              <a:spcAft>
                <a:spcPts val="400"/>
              </a:spcAft>
            </a:pPr>
            <a:r>
              <a:rPr sz="1500" b="1" i="0">
                <a:solidFill>
                  <a:srgbClr val="1A2B5E"/>
                </a:solidFill>
                <a:latin typeface="Calibri"/>
              </a:rPr>
              <a:t>Choose a tool</a:t>
            </a:r>
          </a:p>
        </p:txBody>
      </p:sp>
      <p:sp>
        <p:nvSpPr>
          <p:cNvPr id="10" name="Rectangle 9"/>
          <p:cNvSpPr/>
          <p:nvPr/>
        </p:nvSpPr>
        <p:spPr>
          <a:xfrm>
            <a:off x="822960" y="2834640"/>
            <a:ext cx="3145536"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926080"/>
            <a:ext cx="3145536" cy="594360"/>
          </a:xfrm>
          <a:prstGeom prst="rect">
            <a:avLst/>
          </a:prstGeom>
          <a:noFill/>
        </p:spPr>
        <p:txBody>
          <a:bodyPr wrap="square" lIns="45720" rIns="45720" tIns="18288" bIns="18288" anchor="t">
            <a:spAutoFit/>
          </a:bodyPr>
          <a:lstStyle/>
          <a:p>
            <a:pPr algn="l">
              <a:lnSpc>
                <a:spcPct val="130000"/>
              </a:lnSpc>
              <a:spcAft>
                <a:spcPts val="400"/>
              </a:spcAft>
            </a:pPr>
            <a:r>
              <a:rPr sz="1100" b="0" i="0">
                <a:solidFill>
                  <a:srgbClr val="4B5563"/>
                </a:solidFill>
                <a:latin typeface="Calibri"/>
              </a:rPr>
              <a:t>Claude Code (terminal), GitHub Copilot (IDE), or Claude.ai for a lower-barrier start.</a:t>
            </a:r>
          </a:p>
        </p:txBody>
      </p:sp>
      <p:sp>
        <p:nvSpPr>
          <p:cNvPr id="12" name="Rounded Rectangle 11"/>
          <p:cNvSpPr/>
          <p:nvPr/>
        </p:nvSpPr>
        <p:spPr>
          <a:xfrm>
            <a:off x="4311396" y="1691640"/>
            <a:ext cx="3694176" cy="182880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1396" y="1691640"/>
            <a:ext cx="3694176"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85716" y="1828800"/>
            <a:ext cx="914400" cy="1097280"/>
          </a:xfrm>
          <a:prstGeom prst="rect">
            <a:avLst/>
          </a:prstGeom>
          <a:noFill/>
        </p:spPr>
        <p:txBody>
          <a:bodyPr wrap="square" lIns="45720" rIns="45720" tIns="18288" bIns="18288" anchor="t">
            <a:spAutoFit/>
          </a:bodyPr>
          <a:lstStyle/>
          <a:p>
            <a:pPr algn="l">
              <a:lnSpc>
                <a:spcPct val="100000"/>
              </a:lnSpc>
              <a:spcAft>
                <a:spcPts val="0"/>
              </a:spcAft>
            </a:pPr>
            <a:r>
              <a:rPr sz="5400" b="1" i="0">
                <a:solidFill>
                  <a:srgbClr val="D4A017"/>
                </a:solidFill>
                <a:latin typeface="Calibri"/>
              </a:rPr>
              <a:t>2</a:t>
            </a:r>
          </a:p>
        </p:txBody>
      </p:sp>
      <p:sp>
        <p:nvSpPr>
          <p:cNvPr id="15" name="TextBox 14"/>
          <p:cNvSpPr txBox="1"/>
          <p:nvPr/>
        </p:nvSpPr>
        <p:spPr>
          <a:xfrm>
            <a:off x="5500116" y="1965960"/>
            <a:ext cx="2322576" cy="36576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2B3F76"/>
                </a:solidFill>
                <a:latin typeface="Calibri"/>
              </a:rPr>
              <a:t>STEP 2</a:t>
            </a:r>
          </a:p>
        </p:txBody>
      </p:sp>
      <p:sp>
        <p:nvSpPr>
          <p:cNvPr id="16" name="TextBox 15"/>
          <p:cNvSpPr txBox="1"/>
          <p:nvPr/>
        </p:nvSpPr>
        <p:spPr>
          <a:xfrm>
            <a:off x="5500116" y="2194560"/>
            <a:ext cx="2322576" cy="502920"/>
          </a:xfrm>
          <a:prstGeom prst="rect">
            <a:avLst/>
          </a:prstGeom>
          <a:noFill/>
        </p:spPr>
        <p:txBody>
          <a:bodyPr wrap="square" lIns="45720" rIns="45720" tIns="18288" bIns="18288" anchor="t">
            <a:spAutoFit/>
          </a:bodyPr>
          <a:lstStyle/>
          <a:p>
            <a:pPr algn="l">
              <a:lnSpc>
                <a:spcPct val="110000"/>
              </a:lnSpc>
              <a:spcAft>
                <a:spcPts val="400"/>
              </a:spcAft>
            </a:pPr>
            <a:r>
              <a:rPr sz="1500" b="1" i="0">
                <a:solidFill>
                  <a:srgbClr val="1A2B5E"/>
                </a:solidFill>
                <a:latin typeface="Calibri"/>
              </a:rPr>
              <a:t>Pick a small, real problem</a:t>
            </a:r>
          </a:p>
        </p:txBody>
      </p:sp>
      <p:sp>
        <p:nvSpPr>
          <p:cNvPr id="17" name="Rectangle 16"/>
          <p:cNvSpPr/>
          <p:nvPr/>
        </p:nvSpPr>
        <p:spPr>
          <a:xfrm>
            <a:off x="4585716" y="2834640"/>
            <a:ext cx="3145536"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85716" y="2926080"/>
            <a:ext cx="3145536" cy="594360"/>
          </a:xfrm>
          <a:prstGeom prst="rect">
            <a:avLst/>
          </a:prstGeom>
          <a:noFill/>
        </p:spPr>
        <p:txBody>
          <a:bodyPr wrap="square" lIns="45720" rIns="45720" tIns="18288" bIns="18288" anchor="t">
            <a:spAutoFit/>
          </a:bodyPr>
          <a:lstStyle/>
          <a:p>
            <a:pPr algn="l">
              <a:lnSpc>
                <a:spcPct val="130000"/>
              </a:lnSpc>
              <a:spcAft>
                <a:spcPts val="400"/>
              </a:spcAft>
            </a:pPr>
            <a:r>
              <a:rPr sz="1100" b="0" i="0">
                <a:solidFill>
                  <a:srgbClr val="4B5563"/>
                </a:solidFill>
                <a:latin typeface="Calibri"/>
              </a:rPr>
              <a:t>An internal report formatter. A data-lookup tool. A document summarizer for a workflow you own.</a:t>
            </a:r>
          </a:p>
        </p:txBody>
      </p:sp>
      <p:sp>
        <p:nvSpPr>
          <p:cNvPr id="19" name="Rounded Rectangle 18"/>
          <p:cNvSpPr/>
          <p:nvPr/>
        </p:nvSpPr>
        <p:spPr>
          <a:xfrm>
            <a:off x="8074152" y="1691640"/>
            <a:ext cx="3694176" cy="182880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1691640"/>
            <a:ext cx="3694176"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48472" y="1828800"/>
            <a:ext cx="914400" cy="1097280"/>
          </a:xfrm>
          <a:prstGeom prst="rect">
            <a:avLst/>
          </a:prstGeom>
          <a:noFill/>
        </p:spPr>
        <p:txBody>
          <a:bodyPr wrap="square" lIns="45720" rIns="45720" tIns="18288" bIns="18288" anchor="t">
            <a:spAutoFit/>
          </a:bodyPr>
          <a:lstStyle/>
          <a:p>
            <a:pPr algn="l">
              <a:lnSpc>
                <a:spcPct val="100000"/>
              </a:lnSpc>
              <a:spcAft>
                <a:spcPts val="0"/>
              </a:spcAft>
            </a:pPr>
            <a:r>
              <a:rPr sz="5400" b="1" i="0">
                <a:solidFill>
                  <a:srgbClr val="D4A017"/>
                </a:solidFill>
                <a:latin typeface="Calibri"/>
              </a:rPr>
              <a:t>3</a:t>
            </a:r>
          </a:p>
        </p:txBody>
      </p:sp>
      <p:sp>
        <p:nvSpPr>
          <p:cNvPr id="22" name="TextBox 21"/>
          <p:cNvSpPr txBox="1"/>
          <p:nvPr/>
        </p:nvSpPr>
        <p:spPr>
          <a:xfrm>
            <a:off x="9262872" y="1965960"/>
            <a:ext cx="2322576" cy="36576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2B3F76"/>
                </a:solidFill>
                <a:latin typeface="Calibri"/>
              </a:rPr>
              <a:t>STEP 3</a:t>
            </a:r>
          </a:p>
        </p:txBody>
      </p:sp>
      <p:sp>
        <p:nvSpPr>
          <p:cNvPr id="23" name="TextBox 22"/>
          <p:cNvSpPr txBox="1"/>
          <p:nvPr/>
        </p:nvSpPr>
        <p:spPr>
          <a:xfrm>
            <a:off x="9262872" y="2194560"/>
            <a:ext cx="2322576" cy="502920"/>
          </a:xfrm>
          <a:prstGeom prst="rect">
            <a:avLst/>
          </a:prstGeom>
          <a:noFill/>
        </p:spPr>
        <p:txBody>
          <a:bodyPr wrap="square" lIns="45720" rIns="45720" tIns="18288" bIns="18288" anchor="t">
            <a:spAutoFit/>
          </a:bodyPr>
          <a:lstStyle/>
          <a:p>
            <a:pPr algn="l">
              <a:lnSpc>
                <a:spcPct val="110000"/>
              </a:lnSpc>
              <a:spcAft>
                <a:spcPts val="400"/>
              </a:spcAft>
            </a:pPr>
            <a:r>
              <a:rPr sz="1500" b="1" i="0">
                <a:solidFill>
                  <a:srgbClr val="1A2B5E"/>
                </a:solidFill>
                <a:latin typeface="Calibri"/>
              </a:rPr>
              <a:t>Write a specific prompt</a:t>
            </a:r>
          </a:p>
        </p:txBody>
      </p:sp>
      <p:sp>
        <p:nvSpPr>
          <p:cNvPr id="24" name="Rectangle 23"/>
          <p:cNvSpPr/>
          <p:nvPr/>
        </p:nvSpPr>
        <p:spPr>
          <a:xfrm>
            <a:off x="8348472" y="2834640"/>
            <a:ext cx="3145536"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48472" y="2926080"/>
            <a:ext cx="3145536" cy="594360"/>
          </a:xfrm>
          <a:prstGeom prst="rect">
            <a:avLst/>
          </a:prstGeom>
          <a:noFill/>
        </p:spPr>
        <p:txBody>
          <a:bodyPr wrap="square" lIns="45720" rIns="45720" tIns="18288" bIns="18288" anchor="t">
            <a:spAutoFit/>
          </a:bodyPr>
          <a:lstStyle/>
          <a:p>
            <a:pPr algn="l">
              <a:lnSpc>
                <a:spcPct val="130000"/>
              </a:lnSpc>
              <a:spcAft>
                <a:spcPts val="400"/>
              </a:spcAft>
            </a:pPr>
            <a:r>
              <a:rPr sz="1100" b="0" i="0">
                <a:solidFill>
                  <a:srgbClr val="4B5563"/>
                </a:solidFill>
                <a:latin typeface="Calibri"/>
              </a:rPr>
              <a:t>Describe what you want in detail. Name the inputs, the outputs, and any constraints.</a:t>
            </a:r>
          </a:p>
        </p:txBody>
      </p:sp>
      <p:sp>
        <p:nvSpPr>
          <p:cNvPr id="26" name="Rounded Rectangle 25"/>
          <p:cNvSpPr/>
          <p:nvPr/>
        </p:nvSpPr>
        <p:spPr>
          <a:xfrm>
            <a:off x="548640" y="3685032"/>
            <a:ext cx="3694176" cy="182880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685032"/>
            <a:ext cx="3694176"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3822192"/>
            <a:ext cx="914400" cy="1097280"/>
          </a:xfrm>
          <a:prstGeom prst="rect">
            <a:avLst/>
          </a:prstGeom>
          <a:noFill/>
        </p:spPr>
        <p:txBody>
          <a:bodyPr wrap="square" lIns="45720" rIns="45720" tIns="18288" bIns="18288" anchor="t">
            <a:spAutoFit/>
          </a:bodyPr>
          <a:lstStyle/>
          <a:p>
            <a:pPr algn="l">
              <a:lnSpc>
                <a:spcPct val="100000"/>
              </a:lnSpc>
              <a:spcAft>
                <a:spcPts val="0"/>
              </a:spcAft>
            </a:pPr>
            <a:r>
              <a:rPr sz="5400" b="1" i="0">
                <a:solidFill>
                  <a:srgbClr val="D4A017"/>
                </a:solidFill>
                <a:latin typeface="Calibri"/>
              </a:rPr>
              <a:t>4</a:t>
            </a:r>
          </a:p>
        </p:txBody>
      </p:sp>
      <p:sp>
        <p:nvSpPr>
          <p:cNvPr id="29" name="TextBox 28"/>
          <p:cNvSpPr txBox="1"/>
          <p:nvPr/>
        </p:nvSpPr>
        <p:spPr>
          <a:xfrm>
            <a:off x="1737360" y="3959352"/>
            <a:ext cx="2322576" cy="36576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2B3F76"/>
                </a:solidFill>
                <a:latin typeface="Calibri"/>
              </a:rPr>
              <a:t>STEP 4</a:t>
            </a:r>
          </a:p>
        </p:txBody>
      </p:sp>
      <p:sp>
        <p:nvSpPr>
          <p:cNvPr id="30" name="TextBox 29"/>
          <p:cNvSpPr txBox="1"/>
          <p:nvPr/>
        </p:nvSpPr>
        <p:spPr>
          <a:xfrm>
            <a:off x="1737360" y="4187952"/>
            <a:ext cx="2322576" cy="502920"/>
          </a:xfrm>
          <a:prstGeom prst="rect">
            <a:avLst/>
          </a:prstGeom>
          <a:noFill/>
        </p:spPr>
        <p:txBody>
          <a:bodyPr wrap="square" lIns="45720" rIns="45720" tIns="18288" bIns="18288" anchor="t">
            <a:spAutoFit/>
          </a:bodyPr>
          <a:lstStyle/>
          <a:p>
            <a:pPr algn="l">
              <a:lnSpc>
                <a:spcPct val="110000"/>
              </a:lnSpc>
              <a:spcAft>
                <a:spcPts val="400"/>
              </a:spcAft>
            </a:pPr>
            <a:r>
              <a:rPr sz="1500" b="1" i="0">
                <a:solidFill>
                  <a:srgbClr val="1A2B5E"/>
                </a:solidFill>
                <a:latin typeface="Calibri"/>
              </a:rPr>
              <a:t>Engage the Q&amp;A</a:t>
            </a:r>
          </a:p>
        </p:txBody>
      </p:sp>
      <p:sp>
        <p:nvSpPr>
          <p:cNvPr id="31" name="Rectangle 30"/>
          <p:cNvSpPr/>
          <p:nvPr/>
        </p:nvSpPr>
        <p:spPr>
          <a:xfrm>
            <a:off x="822960" y="4828032"/>
            <a:ext cx="3145536"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4919472"/>
            <a:ext cx="3145536" cy="594360"/>
          </a:xfrm>
          <a:prstGeom prst="rect">
            <a:avLst/>
          </a:prstGeom>
          <a:noFill/>
        </p:spPr>
        <p:txBody>
          <a:bodyPr wrap="square" lIns="45720" rIns="45720" tIns="18288" bIns="18288" anchor="t">
            <a:spAutoFit/>
          </a:bodyPr>
          <a:lstStyle/>
          <a:p>
            <a:pPr algn="l">
              <a:lnSpc>
                <a:spcPct val="130000"/>
              </a:lnSpc>
              <a:spcAft>
                <a:spcPts val="400"/>
              </a:spcAft>
            </a:pPr>
            <a:r>
              <a:rPr sz="1100" b="0" i="0">
                <a:solidFill>
                  <a:srgbClr val="4B5563"/>
                </a:solidFill>
                <a:latin typeface="Calibri"/>
              </a:rPr>
              <a:t>When the AI asks clarifying questions, answer them thoughtfully. These are real design decisions.</a:t>
            </a:r>
          </a:p>
        </p:txBody>
      </p:sp>
      <p:sp>
        <p:nvSpPr>
          <p:cNvPr id="33" name="Rounded Rectangle 32"/>
          <p:cNvSpPr/>
          <p:nvPr/>
        </p:nvSpPr>
        <p:spPr>
          <a:xfrm>
            <a:off x="4311396" y="3685032"/>
            <a:ext cx="3694176" cy="182880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11396" y="3685032"/>
            <a:ext cx="3694176"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585716" y="3822192"/>
            <a:ext cx="914400" cy="1097280"/>
          </a:xfrm>
          <a:prstGeom prst="rect">
            <a:avLst/>
          </a:prstGeom>
          <a:noFill/>
        </p:spPr>
        <p:txBody>
          <a:bodyPr wrap="square" lIns="45720" rIns="45720" tIns="18288" bIns="18288" anchor="t">
            <a:spAutoFit/>
          </a:bodyPr>
          <a:lstStyle/>
          <a:p>
            <a:pPr algn="l">
              <a:lnSpc>
                <a:spcPct val="100000"/>
              </a:lnSpc>
              <a:spcAft>
                <a:spcPts val="0"/>
              </a:spcAft>
            </a:pPr>
            <a:r>
              <a:rPr sz="5400" b="1" i="0">
                <a:solidFill>
                  <a:srgbClr val="D4A017"/>
                </a:solidFill>
                <a:latin typeface="Calibri"/>
              </a:rPr>
              <a:t>5</a:t>
            </a:r>
          </a:p>
        </p:txBody>
      </p:sp>
      <p:sp>
        <p:nvSpPr>
          <p:cNvPr id="36" name="TextBox 35"/>
          <p:cNvSpPr txBox="1"/>
          <p:nvPr/>
        </p:nvSpPr>
        <p:spPr>
          <a:xfrm>
            <a:off x="5500116" y="3959352"/>
            <a:ext cx="2322576" cy="36576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2B3F76"/>
                </a:solidFill>
                <a:latin typeface="Calibri"/>
              </a:rPr>
              <a:t>STEP 5</a:t>
            </a:r>
          </a:p>
        </p:txBody>
      </p:sp>
      <p:sp>
        <p:nvSpPr>
          <p:cNvPr id="37" name="TextBox 36"/>
          <p:cNvSpPr txBox="1"/>
          <p:nvPr/>
        </p:nvSpPr>
        <p:spPr>
          <a:xfrm>
            <a:off x="5500116" y="4187952"/>
            <a:ext cx="2322576" cy="502920"/>
          </a:xfrm>
          <a:prstGeom prst="rect">
            <a:avLst/>
          </a:prstGeom>
          <a:noFill/>
        </p:spPr>
        <p:txBody>
          <a:bodyPr wrap="square" lIns="45720" rIns="45720" tIns="18288" bIns="18288" anchor="t">
            <a:spAutoFit/>
          </a:bodyPr>
          <a:lstStyle/>
          <a:p>
            <a:pPr algn="l">
              <a:lnSpc>
                <a:spcPct val="110000"/>
              </a:lnSpc>
              <a:spcAft>
                <a:spcPts val="400"/>
              </a:spcAft>
            </a:pPr>
            <a:r>
              <a:rPr sz="1500" b="1" i="0">
                <a:solidFill>
                  <a:srgbClr val="1A2B5E"/>
                </a:solidFill>
                <a:latin typeface="Calibri"/>
              </a:rPr>
              <a:t>Test it yourself</a:t>
            </a:r>
          </a:p>
        </p:txBody>
      </p:sp>
      <p:sp>
        <p:nvSpPr>
          <p:cNvPr id="38" name="Rectangle 37"/>
          <p:cNvSpPr/>
          <p:nvPr/>
        </p:nvSpPr>
        <p:spPr>
          <a:xfrm>
            <a:off x="4585716" y="4828032"/>
            <a:ext cx="3145536"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85716" y="4919472"/>
            <a:ext cx="3145536" cy="594360"/>
          </a:xfrm>
          <a:prstGeom prst="rect">
            <a:avLst/>
          </a:prstGeom>
          <a:noFill/>
        </p:spPr>
        <p:txBody>
          <a:bodyPr wrap="square" lIns="45720" rIns="45720" tIns="18288" bIns="18288" anchor="t">
            <a:spAutoFit/>
          </a:bodyPr>
          <a:lstStyle/>
          <a:p>
            <a:pPr algn="l">
              <a:lnSpc>
                <a:spcPct val="130000"/>
              </a:lnSpc>
              <a:spcAft>
                <a:spcPts val="400"/>
              </a:spcAft>
            </a:pPr>
            <a:r>
              <a:rPr sz="1100" b="0" i="0">
                <a:solidFill>
                  <a:srgbClr val="4B5563"/>
                </a:solidFill>
                <a:latin typeface="Calibri"/>
              </a:rPr>
              <a:t>Run what gets generated. Report errors back to the AI in full. Iterate.</a:t>
            </a:r>
          </a:p>
        </p:txBody>
      </p:sp>
      <p:sp>
        <p:nvSpPr>
          <p:cNvPr id="40" name="Rounded Rectangle 39"/>
          <p:cNvSpPr/>
          <p:nvPr/>
        </p:nvSpPr>
        <p:spPr>
          <a:xfrm>
            <a:off x="8074152" y="3685032"/>
            <a:ext cx="3694176" cy="1828800"/>
          </a:xfrm>
          <a:prstGeom prst="roundRect">
            <a:avLst>
              <a:gd name="adj" fmla="val 6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74152" y="3685032"/>
            <a:ext cx="3694176"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2" y="3822192"/>
            <a:ext cx="914400" cy="1097280"/>
          </a:xfrm>
          <a:prstGeom prst="rect">
            <a:avLst/>
          </a:prstGeom>
          <a:noFill/>
        </p:spPr>
        <p:txBody>
          <a:bodyPr wrap="square" lIns="45720" rIns="45720" tIns="18288" bIns="18288" anchor="t">
            <a:spAutoFit/>
          </a:bodyPr>
          <a:lstStyle/>
          <a:p>
            <a:pPr algn="l">
              <a:lnSpc>
                <a:spcPct val="100000"/>
              </a:lnSpc>
              <a:spcAft>
                <a:spcPts val="0"/>
              </a:spcAft>
            </a:pPr>
            <a:r>
              <a:rPr sz="5400" b="1" i="0">
                <a:solidFill>
                  <a:srgbClr val="D4A017"/>
                </a:solidFill>
                <a:latin typeface="Calibri"/>
              </a:rPr>
              <a:t>6</a:t>
            </a:r>
          </a:p>
        </p:txBody>
      </p:sp>
      <p:sp>
        <p:nvSpPr>
          <p:cNvPr id="43" name="TextBox 42"/>
          <p:cNvSpPr txBox="1"/>
          <p:nvPr/>
        </p:nvSpPr>
        <p:spPr>
          <a:xfrm>
            <a:off x="9262872" y="3959352"/>
            <a:ext cx="2322576" cy="365760"/>
          </a:xfrm>
          <a:prstGeom prst="rect">
            <a:avLst/>
          </a:prstGeom>
          <a:noFill/>
        </p:spPr>
        <p:txBody>
          <a:bodyPr wrap="square" lIns="45720" rIns="45720" tIns="18288" bIns="18288" anchor="t">
            <a:spAutoFit/>
          </a:bodyPr>
          <a:lstStyle/>
          <a:p>
            <a:pPr algn="l">
              <a:lnSpc>
                <a:spcPct val="115000"/>
              </a:lnSpc>
              <a:spcAft>
                <a:spcPts val="400"/>
              </a:spcAft>
            </a:pPr>
            <a:r>
              <a:rPr sz="1000" b="1" i="0">
                <a:solidFill>
                  <a:srgbClr val="2B3F76"/>
                </a:solidFill>
                <a:latin typeface="Calibri"/>
              </a:rPr>
              <a:t>STEP 6</a:t>
            </a:r>
          </a:p>
        </p:txBody>
      </p:sp>
      <p:sp>
        <p:nvSpPr>
          <p:cNvPr id="44" name="TextBox 43"/>
          <p:cNvSpPr txBox="1"/>
          <p:nvPr/>
        </p:nvSpPr>
        <p:spPr>
          <a:xfrm>
            <a:off x="9262872" y="4187952"/>
            <a:ext cx="2322576" cy="502920"/>
          </a:xfrm>
          <a:prstGeom prst="rect">
            <a:avLst/>
          </a:prstGeom>
          <a:noFill/>
        </p:spPr>
        <p:txBody>
          <a:bodyPr wrap="square" lIns="45720" rIns="45720" tIns="18288" bIns="18288" anchor="t">
            <a:spAutoFit/>
          </a:bodyPr>
          <a:lstStyle/>
          <a:p>
            <a:pPr algn="l">
              <a:lnSpc>
                <a:spcPct val="110000"/>
              </a:lnSpc>
              <a:spcAft>
                <a:spcPts val="400"/>
              </a:spcAft>
            </a:pPr>
            <a:r>
              <a:rPr sz="1500" b="1" i="0">
                <a:solidFill>
                  <a:srgbClr val="1A2B5E"/>
                </a:solidFill>
                <a:latin typeface="Calibri"/>
              </a:rPr>
              <a:t>Ask for documentation</a:t>
            </a:r>
          </a:p>
        </p:txBody>
      </p:sp>
      <p:sp>
        <p:nvSpPr>
          <p:cNvPr id="45" name="Rectangle 44"/>
          <p:cNvSpPr/>
          <p:nvPr/>
        </p:nvSpPr>
        <p:spPr>
          <a:xfrm>
            <a:off x="8348472" y="4828032"/>
            <a:ext cx="3145536" cy="18288"/>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348472" y="4919472"/>
            <a:ext cx="3145536" cy="594360"/>
          </a:xfrm>
          <a:prstGeom prst="rect">
            <a:avLst/>
          </a:prstGeom>
          <a:noFill/>
        </p:spPr>
        <p:txBody>
          <a:bodyPr wrap="square" lIns="45720" rIns="45720" tIns="18288" bIns="18288" anchor="t">
            <a:spAutoFit/>
          </a:bodyPr>
          <a:lstStyle/>
          <a:p>
            <a:pPr algn="l">
              <a:lnSpc>
                <a:spcPct val="130000"/>
              </a:lnSpc>
              <a:spcAft>
                <a:spcPts val="400"/>
              </a:spcAft>
            </a:pPr>
            <a:r>
              <a:rPr sz="1100" b="0" i="0">
                <a:solidFill>
                  <a:srgbClr val="4B5563"/>
                </a:solidFill>
                <a:latin typeface="Calibri"/>
              </a:rPr>
              <a:t>Before ending the session, ask for a README explaining what was built and how to run it.</a:t>
            </a:r>
          </a:p>
        </p:txBody>
      </p:sp>
      <p:sp>
        <p:nvSpPr>
          <p:cNvPr id="47" name="Rounded Rectangle 46"/>
          <p:cNvSpPr/>
          <p:nvPr/>
        </p:nvSpPr>
        <p:spPr>
          <a:xfrm>
            <a:off x="548640" y="5852160"/>
            <a:ext cx="11091672" cy="457200"/>
          </a:xfrm>
          <a:prstGeom prst="roundRect">
            <a:avLst>
              <a:gd name="adj" fmla="val 6000"/>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7240" y="5925312"/>
            <a:ext cx="10607040" cy="329184"/>
          </a:xfrm>
          <a:prstGeom prst="rect">
            <a:avLst/>
          </a:prstGeom>
          <a:noFill/>
        </p:spPr>
        <p:txBody>
          <a:bodyPr wrap="square" lIns="45720" rIns="45720" tIns="18288" bIns="18288" anchor="t">
            <a:spAutoFit/>
          </a:bodyPr>
          <a:lstStyle/>
          <a:p>
            <a:pPr algn="l">
              <a:lnSpc>
                <a:spcPct val="115000"/>
              </a:lnSpc>
              <a:spcAft>
                <a:spcPts val="400"/>
              </a:spcAft>
            </a:pPr>
            <a:r>
              <a:rPr sz="1200" b="1" i="1">
                <a:solidFill>
                  <a:srgbClr val="FFFFFF"/>
                </a:solidFill>
                <a:latin typeface="Calibri"/>
              </a:rPr>
              <a:t>The goal of the first session isn't perfection. It's the experience of turning a description into working software.</a:t>
            </a:r>
          </a:p>
        </p:txBody>
      </p:sp>
      <p:sp>
        <p:nvSpPr>
          <p:cNvPr id="49" name="Rectangle 48"/>
          <p:cNvSpPr/>
          <p:nvPr/>
        </p:nvSpPr>
        <p:spPr>
          <a:xfrm>
            <a:off x="457200" y="64922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58368" y="6391656"/>
            <a:ext cx="64008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6B7280"/>
                </a:solidFill>
                <a:latin typeface="Calibri"/>
              </a:rPr>
              <a:t>From Idea to Working App  ·  AI-Assisted Development</a:t>
            </a:r>
          </a:p>
        </p:txBody>
      </p:sp>
      <p:sp>
        <p:nvSpPr>
          <p:cNvPr id="51" name="TextBox 50"/>
          <p:cNvSpPr txBox="1"/>
          <p:nvPr/>
        </p:nvSpPr>
        <p:spPr>
          <a:xfrm>
            <a:off x="10515600" y="63916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6B7280"/>
                </a:solidFill>
                <a:latin typeface="Calibr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E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6949440" y="0"/>
            <a:ext cx="5242255" cy="6858000"/>
          </a:xfrm>
          <a:prstGeom prst="rect">
            <a:avLst/>
          </a:prstGeom>
          <a:solidFill>
            <a:srgbClr val="1A2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903720" y="548640"/>
            <a:ext cx="54864" cy="5760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280160"/>
            <a:ext cx="5943600" cy="365760"/>
          </a:xfrm>
          <a:prstGeom prst="rect">
            <a:avLst/>
          </a:prstGeom>
          <a:noFill/>
        </p:spPr>
        <p:txBody>
          <a:bodyPr wrap="square" lIns="45720" rIns="45720" tIns="18288" bIns="18288" anchor="t">
            <a:spAutoFit/>
          </a:bodyPr>
          <a:lstStyle/>
          <a:p>
            <a:pPr algn="l">
              <a:lnSpc>
                <a:spcPct val="115000"/>
              </a:lnSpc>
              <a:spcAft>
                <a:spcPts val="400"/>
              </a:spcAft>
            </a:pPr>
            <a:r>
              <a:rPr sz="1200" b="1" i="0">
                <a:solidFill>
                  <a:srgbClr val="D4A017"/>
                </a:solidFill>
                <a:latin typeface="Calibri"/>
              </a:rPr>
              <a:t>DISCUSSION</a:t>
            </a:r>
          </a:p>
        </p:txBody>
      </p:sp>
      <p:sp>
        <p:nvSpPr>
          <p:cNvPr id="6" name="TextBox 5"/>
          <p:cNvSpPr txBox="1"/>
          <p:nvPr/>
        </p:nvSpPr>
        <p:spPr>
          <a:xfrm>
            <a:off x="822960" y="1783080"/>
            <a:ext cx="5943600" cy="2286000"/>
          </a:xfrm>
          <a:prstGeom prst="rect">
            <a:avLst/>
          </a:prstGeom>
          <a:noFill/>
        </p:spPr>
        <p:txBody>
          <a:bodyPr wrap="square" lIns="45720" rIns="45720" tIns="18288" bIns="18288" anchor="t">
            <a:spAutoFit/>
          </a:bodyPr>
          <a:lstStyle/>
          <a:p>
            <a:pPr algn="l">
              <a:lnSpc>
                <a:spcPct val="100000"/>
              </a:lnSpc>
              <a:spcAft>
                <a:spcPts val="400"/>
              </a:spcAft>
            </a:pPr>
            <a:r>
              <a:rPr sz="9200" b="1" i="0">
                <a:solidFill>
                  <a:srgbClr val="FFFFFF"/>
                </a:solidFill>
                <a:latin typeface="Calibri"/>
              </a:rPr>
              <a:t>Questions?</a:t>
            </a:r>
          </a:p>
        </p:txBody>
      </p:sp>
      <p:sp>
        <p:nvSpPr>
          <p:cNvPr id="7" name="TextBox 6"/>
          <p:cNvSpPr txBox="1"/>
          <p:nvPr/>
        </p:nvSpPr>
        <p:spPr>
          <a:xfrm>
            <a:off x="822960" y="3886200"/>
            <a:ext cx="6035040" cy="640080"/>
          </a:xfrm>
          <a:prstGeom prst="rect">
            <a:avLst/>
          </a:prstGeom>
          <a:noFill/>
        </p:spPr>
        <p:txBody>
          <a:bodyPr wrap="square" lIns="45720" rIns="45720" tIns="18288" bIns="18288" anchor="t">
            <a:spAutoFit/>
          </a:bodyPr>
          <a:lstStyle/>
          <a:p>
            <a:pPr algn="l">
              <a:lnSpc>
                <a:spcPct val="115000"/>
              </a:lnSpc>
              <a:spcAft>
                <a:spcPts val="400"/>
              </a:spcAft>
            </a:pPr>
            <a:r>
              <a:rPr sz="2200" b="0" i="1">
                <a:solidFill>
                  <a:srgbClr val="F5E6B8"/>
                </a:solidFill>
                <a:latin typeface="Calibri"/>
              </a:rPr>
              <a:t>The gap is smaller than you think.</a:t>
            </a:r>
          </a:p>
        </p:txBody>
      </p:sp>
      <p:sp>
        <p:nvSpPr>
          <p:cNvPr id="8" name="TextBox 7"/>
          <p:cNvSpPr txBox="1"/>
          <p:nvPr/>
        </p:nvSpPr>
        <p:spPr>
          <a:xfrm>
            <a:off x="7315200" y="1280160"/>
            <a:ext cx="4572000" cy="36576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D4A017"/>
                </a:solidFill>
                <a:latin typeface="Calibri"/>
              </a:rPr>
              <a:t>RESOURCES</a:t>
            </a:r>
          </a:p>
        </p:txBody>
      </p:sp>
      <p:sp>
        <p:nvSpPr>
          <p:cNvPr id="9" name="Rounded Rectangle 8"/>
          <p:cNvSpPr/>
          <p:nvPr/>
        </p:nvSpPr>
        <p:spPr>
          <a:xfrm>
            <a:off x="7315200" y="1691640"/>
            <a:ext cx="4572000" cy="960120"/>
          </a:xfrm>
          <a:prstGeom prst="roundRect">
            <a:avLst>
              <a:gd name="adj" fmla="val 6000"/>
            </a:avLst>
          </a:prstGeom>
          <a:solidFill>
            <a:srgbClr val="121E42"/>
          </a:solidFill>
          <a:ln w="9525">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1783080"/>
            <a:ext cx="4206240" cy="274320"/>
          </a:xfrm>
          <a:prstGeom prst="rect">
            <a:avLst/>
          </a:prstGeom>
          <a:noFill/>
        </p:spPr>
        <p:txBody>
          <a:bodyPr wrap="square" lIns="45720" rIns="45720" tIns="18288" bIns="18288" anchor="t">
            <a:spAutoFit/>
          </a:bodyPr>
          <a:lstStyle/>
          <a:p>
            <a:pPr algn="l">
              <a:lnSpc>
                <a:spcPct val="115000"/>
              </a:lnSpc>
              <a:spcAft>
                <a:spcPts val="400"/>
              </a:spcAft>
            </a:pPr>
            <a:r>
              <a:rPr sz="900" b="1" i="0">
                <a:solidFill>
                  <a:srgbClr val="D4A017"/>
                </a:solidFill>
                <a:latin typeface="Calibri"/>
              </a:rPr>
              <a:t>APPLICATION CODE</a:t>
            </a:r>
          </a:p>
        </p:txBody>
      </p:sp>
      <p:sp>
        <p:nvSpPr>
          <p:cNvPr id="11" name="TextBox 10"/>
          <p:cNvSpPr txBox="1"/>
          <p:nvPr/>
        </p:nvSpPr>
        <p:spPr>
          <a:xfrm>
            <a:off x="7498079" y="2011680"/>
            <a:ext cx="4206240" cy="640080"/>
          </a:xfrm>
          <a:prstGeom prst="rect">
            <a:avLst/>
          </a:prstGeom>
          <a:noFill/>
        </p:spPr>
        <p:txBody>
          <a:bodyPr wrap="square" lIns="45720" rIns="45720" tIns="18288" bIns="18288" anchor="t">
            <a:spAutoFit/>
          </a:bodyPr>
          <a:lstStyle/>
          <a:p>
            <a:pPr algn="l">
              <a:lnSpc>
                <a:spcPct val="115000"/>
              </a:lnSpc>
              <a:spcAft>
                <a:spcPts val="400"/>
              </a:spcAft>
            </a:pPr>
            <a:r>
              <a:rPr sz="1200" b="0" i="1">
                <a:solidFill>
                  <a:srgbClr val="FFFFFF"/>
                </a:solidFill>
                <a:latin typeface="Consolas"/>
              </a:rPr>
              <a:t>[repo location — speaker to fill in]</a:t>
            </a:r>
          </a:p>
        </p:txBody>
      </p:sp>
      <p:sp>
        <p:nvSpPr>
          <p:cNvPr id="12" name="Rounded Rectangle 11"/>
          <p:cNvSpPr/>
          <p:nvPr/>
        </p:nvSpPr>
        <p:spPr>
          <a:xfrm>
            <a:off x="7315200" y="2788920"/>
            <a:ext cx="4572000" cy="960120"/>
          </a:xfrm>
          <a:prstGeom prst="roundRect">
            <a:avLst>
              <a:gd name="adj" fmla="val 6000"/>
            </a:avLst>
          </a:prstGeom>
          <a:solidFill>
            <a:srgbClr val="121E42"/>
          </a:solidFill>
          <a:ln w="9525">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880360"/>
            <a:ext cx="4206240" cy="274320"/>
          </a:xfrm>
          <a:prstGeom prst="rect">
            <a:avLst/>
          </a:prstGeom>
          <a:noFill/>
        </p:spPr>
        <p:txBody>
          <a:bodyPr wrap="square" lIns="45720" rIns="45720" tIns="18288" bIns="18288" anchor="t">
            <a:spAutoFit/>
          </a:bodyPr>
          <a:lstStyle/>
          <a:p>
            <a:pPr algn="l">
              <a:lnSpc>
                <a:spcPct val="115000"/>
              </a:lnSpc>
              <a:spcAft>
                <a:spcPts val="400"/>
              </a:spcAft>
            </a:pPr>
            <a:r>
              <a:rPr sz="900" b="1" i="0">
                <a:solidFill>
                  <a:srgbClr val="D4A017"/>
                </a:solidFill>
                <a:latin typeface="Calibri"/>
              </a:rPr>
              <a:t>SESSION WALK-THROUGH NOTES</a:t>
            </a:r>
          </a:p>
        </p:txBody>
      </p:sp>
      <p:sp>
        <p:nvSpPr>
          <p:cNvPr id="14" name="TextBox 13"/>
          <p:cNvSpPr txBox="1"/>
          <p:nvPr/>
        </p:nvSpPr>
        <p:spPr>
          <a:xfrm>
            <a:off x="7498079" y="3108960"/>
            <a:ext cx="4206240" cy="640080"/>
          </a:xfrm>
          <a:prstGeom prst="rect">
            <a:avLst/>
          </a:prstGeom>
          <a:noFill/>
        </p:spPr>
        <p:txBody>
          <a:bodyPr wrap="square" lIns="45720" rIns="45720" tIns="18288" bIns="18288" anchor="t">
            <a:spAutoFit/>
          </a:bodyPr>
          <a:lstStyle/>
          <a:p>
            <a:pPr algn="l">
              <a:lnSpc>
                <a:spcPct val="115000"/>
              </a:lnSpc>
              <a:spcAft>
                <a:spcPts val="400"/>
              </a:spcAft>
            </a:pPr>
            <a:r>
              <a:rPr sz="1200" b="0" i="0">
                <a:solidFill>
                  <a:srgbClr val="FFFFFF"/>
                </a:solidFill>
                <a:latin typeface="Consolas"/>
              </a:rPr>
              <a:t>claude-code-session.log</a:t>
            </a:r>
          </a:p>
        </p:txBody>
      </p:sp>
      <p:sp>
        <p:nvSpPr>
          <p:cNvPr id="15" name="Rounded Rectangle 14"/>
          <p:cNvSpPr/>
          <p:nvPr/>
        </p:nvSpPr>
        <p:spPr>
          <a:xfrm>
            <a:off x="7315200" y="3886200"/>
            <a:ext cx="4572000" cy="960120"/>
          </a:xfrm>
          <a:prstGeom prst="roundRect">
            <a:avLst>
              <a:gd name="adj" fmla="val 6000"/>
            </a:avLst>
          </a:prstGeom>
          <a:solidFill>
            <a:srgbClr val="121E42"/>
          </a:solidFill>
          <a:ln w="9525">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3977639"/>
            <a:ext cx="4206240" cy="274320"/>
          </a:xfrm>
          <a:prstGeom prst="rect">
            <a:avLst/>
          </a:prstGeom>
          <a:noFill/>
        </p:spPr>
        <p:txBody>
          <a:bodyPr wrap="square" lIns="45720" rIns="45720" tIns="18288" bIns="18288" anchor="t">
            <a:spAutoFit/>
          </a:bodyPr>
          <a:lstStyle/>
          <a:p>
            <a:pPr algn="l">
              <a:lnSpc>
                <a:spcPct val="115000"/>
              </a:lnSpc>
              <a:spcAft>
                <a:spcPts val="400"/>
              </a:spcAft>
            </a:pPr>
            <a:r>
              <a:rPr sz="900" b="1" i="0">
                <a:solidFill>
                  <a:srgbClr val="D4A017"/>
                </a:solidFill>
                <a:latin typeface="Calibri"/>
              </a:rPr>
              <a:t>SPEAKER CONTACT</a:t>
            </a:r>
          </a:p>
        </p:txBody>
      </p:sp>
      <p:sp>
        <p:nvSpPr>
          <p:cNvPr id="17" name="TextBox 16"/>
          <p:cNvSpPr txBox="1"/>
          <p:nvPr/>
        </p:nvSpPr>
        <p:spPr>
          <a:xfrm>
            <a:off x="7498079" y="4206240"/>
            <a:ext cx="4206240" cy="640080"/>
          </a:xfrm>
          <a:prstGeom prst="rect">
            <a:avLst/>
          </a:prstGeom>
          <a:noFill/>
        </p:spPr>
        <p:txBody>
          <a:bodyPr wrap="square" lIns="45720" rIns="45720" tIns="18288" bIns="18288" anchor="t">
            <a:spAutoFit/>
          </a:bodyPr>
          <a:lstStyle/>
          <a:p>
            <a:pPr algn="l">
              <a:lnSpc>
                <a:spcPct val="115000"/>
              </a:lnSpc>
              <a:spcAft>
                <a:spcPts val="400"/>
              </a:spcAft>
            </a:pPr>
            <a:r>
              <a:rPr sz="1200" b="0" i="1">
                <a:solidFill>
                  <a:srgbClr val="FFFFFF"/>
                </a:solidFill>
                <a:latin typeface="Calibri"/>
              </a:rPr>
              <a:t>[email — speaker to fill in]</a:t>
            </a:r>
          </a:p>
        </p:txBody>
      </p:sp>
      <p:sp>
        <p:nvSpPr>
          <p:cNvPr id="18" name="TextBox 17"/>
          <p:cNvSpPr txBox="1"/>
          <p:nvPr/>
        </p:nvSpPr>
        <p:spPr>
          <a:xfrm>
            <a:off x="7315200" y="5074920"/>
            <a:ext cx="4572000" cy="274320"/>
          </a:xfrm>
          <a:prstGeom prst="rect">
            <a:avLst/>
          </a:prstGeom>
          <a:noFill/>
        </p:spPr>
        <p:txBody>
          <a:bodyPr wrap="square" lIns="45720" rIns="45720" tIns="18288" bIns="18288" anchor="t">
            <a:spAutoFit/>
          </a:bodyPr>
          <a:lstStyle/>
          <a:p>
            <a:pPr algn="l">
              <a:lnSpc>
                <a:spcPct val="115000"/>
              </a:lnSpc>
              <a:spcAft>
                <a:spcPts val="400"/>
              </a:spcAft>
            </a:pPr>
            <a:r>
              <a:rPr sz="1100" b="1" i="0">
                <a:solidFill>
                  <a:srgbClr val="D4A017"/>
                </a:solidFill>
                <a:latin typeface="Calibri"/>
              </a:rPr>
              <a:t>ANTICIPATE</a:t>
            </a:r>
          </a:p>
        </p:txBody>
      </p:sp>
      <p:sp>
        <p:nvSpPr>
          <p:cNvPr id="19" name="TextBox 18"/>
          <p:cNvSpPr txBox="1"/>
          <p:nvPr/>
        </p:nvSpPr>
        <p:spPr>
          <a:xfrm>
            <a:off x="7315200" y="5349240"/>
            <a:ext cx="4572000" cy="1188720"/>
          </a:xfrm>
          <a:prstGeom prst="rect">
            <a:avLst/>
          </a:prstGeom>
          <a:noFill/>
        </p:spPr>
        <p:txBody>
          <a:bodyPr wrap="square" lIns="45720" rIns="45720" tIns="18288" bIns="18288" anchor="t">
            <a:spAutoFit/>
          </a:bodyPr>
          <a:lstStyle/>
          <a:p>
            <a:pPr algn="l">
              <a:lnSpc>
                <a:spcPct val="140000"/>
              </a:lnSpc>
              <a:spcAft>
                <a:spcPts val="400"/>
              </a:spcAft>
            </a:pPr>
            <a:r>
              <a:rPr sz="1100" b="0" i="1">
                <a:solidFill>
                  <a:srgbClr val="F5E6B8"/>
                </a:solidFill>
                <a:latin typeface="Calibri"/>
              </a:rPr>
              <a:t>Production-ready? Cost? Risks? Who can do this?
See speaker notes for prepared answers.</a:t>
            </a:r>
          </a:p>
        </p:txBody>
      </p:sp>
      <p:sp>
        <p:nvSpPr>
          <p:cNvPr id="20" name="Rectangle 19"/>
          <p:cNvSpPr/>
          <p:nvPr/>
        </p:nvSpPr>
        <p:spPr>
          <a:xfrm>
            <a:off x="822960" y="6263640"/>
            <a:ext cx="164592" cy="36576"/>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51560" y="6163056"/>
            <a:ext cx="5486400" cy="256032"/>
          </a:xfrm>
          <a:prstGeom prst="rect">
            <a:avLst/>
          </a:prstGeom>
          <a:noFill/>
        </p:spPr>
        <p:txBody>
          <a:bodyPr wrap="square" lIns="45720" rIns="45720" tIns="18288" bIns="18288" anchor="t">
            <a:spAutoFit/>
          </a:bodyPr>
          <a:lstStyle/>
          <a:p>
            <a:pPr algn="l">
              <a:lnSpc>
                <a:spcPct val="115000"/>
              </a:lnSpc>
              <a:spcAft>
                <a:spcPts val="400"/>
              </a:spcAft>
            </a:pPr>
            <a:r>
              <a:rPr sz="900" b="0" i="0">
                <a:solidFill>
                  <a:srgbClr val="E3EAF6"/>
                </a:solidFill>
                <a:latin typeface="Calibri"/>
              </a:rPr>
              <a:t>From Idea to Working App  ·  AI-Assisted Development</a:t>
            </a:r>
          </a:p>
        </p:txBody>
      </p:sp>
      <p:sp>
        <p:nvSpPr>
          <p:cNvPr id="22" name="TextBox 21"/>
          <p:cNvSpPr txBox="1"/>
          <p:nvPr/>
        </p:nvSpPr>
        <p:spPr>
          <a:xfrm>
            <a:off x="10515600" y="6163056"/>
            <a:ext cx="1280160" cy="256032"/>
          </a:xfrm>
          <a:prstGeom prst="rect">
            <a:avLst/>
          </a:prstGeom>
          <a:noFill/>
        </p:spPr>
        <p:txBody>
          <a:bodyPr wrap="square" lIns="45720" rIns="45720" tIns="18288" bIns="18288" anchor="t">
            <a:spAutoFit/>
          </a:bodyPr>
          <a:lstStyle/>
          <a:p>
            <a:pPr algn="r">
              <a:lnSpc>
                <a:spcPct val="115000"/>
              </a:lnSpc>
              <a:spcAft>
                <a:spcPts val="400"/>
              </a:spcAft>
            </a:pPr>
            <a:r>
              <a:rPr sz="900" b="0" i="0">
                <a:solidFill>
                  <a:srgbClr val="E3EAF6"/>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